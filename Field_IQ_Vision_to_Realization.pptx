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VR_MASTER">
    <p:bg>
      <p:bgPr>
        <a:solidFill>
          <a:srgbClr val="0B1424"/>
        </a:solidFill>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457200" y="365760"/>
            <a:ext cx="777240" cy="777240"/>
          </a:xfrm>
          <a:prstGeom prst="roundRect">
            <a:avLst>
              <a:gd name="adj" fmla="val 14118"/>
            </a:avLst>
          </a:prstGeom>
          <a:solidFill>
            <a:srgbClr val="E07B47"/>
          </a:solidFill>
          <a:ln w="12700">
            <a:solidFill>
              <a:srgbClr val="E07B47"/>
            </a:solidFill>
            <a:prstDash val="solid"/>
          </a:ln>
        </p:spPr>
      </p:sp>
      <p:sp>
        <p:nvSpPr>
          <p:cNvPr id="3" name="Text 1"/>
          <p:cNvSpPr/>
          <p:nvPr/>
        </p:nvSpPr>
        <p:spPr>
          <a:xfrm>
            <a:off x="457200" y="365760"/>
            <a:ext cx="777240" cy="777240"/>
          </a:xfrm>
          <a:prstGeom prst="rect">
            <a:avLst/>
          </a:prstGeom>
          <a:noFill/>
          <a:ln/>
        </p:spPr>
        <p:txBody>
          <a:bodyPr wrap="square" rtlCol="0" anchor="ctr"/>
          <a:lstStyle/>
          <a:p>
            <a:pPr algn="ctr" indent="0" marL="0">
              <a:buNone/>
            </a:pPr>
            <a:r>
              <a:rPr lang="en-US" sz="3400" b="1" dirty="0">
                <a:solidFill>
                  <a:srgbClr val="0B1424"/>
                </a:solidFill>
                <a:latin typeface="Inter" pitchFamily="34" charset="0"/>
                <a:ea typeface="Inter" pitchFamily="34" charset="-122"/>
                <a:cs typeface="Inter" pitchFamily="34" charset="-120"/>
              </a:rPr>
              <a:t>F</a:t>
            </a:r>
            <a:endParaRPr lang="en-US" sz="3400" dirty="0"/>
          </a:p>
        </p:txBody>
      </p:sp>
      <p:sp>
        <p:nvSpPr>
          <p:cNvPr id="4" name="Text 2"/>
          <p:cNvSpPr/>
          <p:nvPr/>
        </p:nvSpPr>
        <p:spPr>
          <a:xfrm>
            <a:off x="1371600" y="411480"/>
            <a:ext cx="4572000" cy="365760"/>
          </a:xfrm>
          <a:prstGeom prst="rect">
            <a:avLst/>
          </a:prstGeom>
          <a:noFill/>
          <a:ln/>
        </p:spPr>
        <p:txBody>
          <a:bodyPr wrap="square" rtlCol="0" anchor="ctr"/>
          <a:lstStyle/>
          <a:p>
            <a:pPr indent="0" marL="0">
              <a:buNone/>
            </a:pPr>
            <a:r>
              <a:rPr lang="en-US" sz="1200" b="1" spc="600" kern="0" dirty="0">
                <a:solidFill>
                  <a:srgbClr val="F5F1E8"/>
                </a:solidFill>
                <a:latin typeface="Inter" pitchFamily="34" charset="0"/>
                <a:ea typeface="Inter" pitchFamily="34" charset="-122"/>
                <a:cs typeface="Inter" pitchFamily="34" charset="-120"/>
              </a:rPr>
              <a:t>FIELD IQ</a:t>
            </a:r>
            <a:endParaRPr lang="en-US" sz="1200" dirty="0"/>
          </a:p>
        </p:txBody>
      </p:sp>
      <p:sp>
        <p:nvSpPr>
          <p:cNvPr id="5" name="Text 3"/>
          <p:cNvSpPr/>
          <p:nvPr/>
        </p:nvSpPr>
        <p:spPr>
          <a:xfrm>
            <a:off x="1371600" y="777240"/>
            <a:ext cx="5486400" cy="274320"/>
          </a:xfrm>
          <a:prstGeom prst="rect">
            <a:avLst/>
          </a:prstGeom>
          <a:noFill/>
          <a:ln/>
        </p:spPr>
        <p:txBody>
          <a:bodyPr wrap="square" rtlCol="0" anchor="ctr"/>
          <a:lstStyle/>
          <a:p>
            <a:pPr indent="0" marL="0">
              <a:buNone/>
            </a:pPr>
            <a:r>
              <a:rPr lang="en-US" sz="900" spc="400" kern="0" dirty="0">
                <a:solidFill>
                  <a:srgbClr val="6B7689"/>
                </a:solidFill>
                <a:latin typeface="Inter" pitchFamily="34" charset="0"/>
                <a:ea typeface="Inter" pitchFamily="34" charset="-122"/>
                <a:cs typeface="Inter" pitchFamily="34" charset="-120"/>
              </a:rPr>
              <a:t>EON AI VENTURES · POWERED BY GENESIS</a:t>
            </a:r>
            <a:endParaRPr lang="en-US" sz="900" dirty="0"/>
          </a:p>
        </p:txBody>
      </p:sp>
      <p:sp>
        <p:nvSpPr>
          <p:cNvPr id="6" name="Text 4"/>
          <p:cNvSpPr/>
          <p:nvPr/>
        </p:nvSpPr>
        <p:spPr>
          <a:xfrm>
            <a:off x="457200" y="1691640"/>
            <a:ext cx="11247120" cy="868680"/>
          </a:xfrm>
          <a:prstGeom prst="rect">
            <a:avLst/>
          </a:prstGeom>
          <a:noFill/>
          <a:ln/>
        </p:spPr>
        <p:txBody>
          <a:bodyPr wrap="square" rtlCol="0" anchor="ctr"/>
          <a:lstStyle/>
          <a:p>
            <a:pPr indent="0" marL="0">
              <a:buNone/>
            </a:pPr>
            <a:r>
              <a:rPr lang="en-US" sz="6000" b="1" dirty="0">
                <a:solidFill>
                  <a:srgbClr val="F5F1E8"/>
                </a:solidFill>
                <a:latin typeface="Inter" pitchFamily="34" charset="0"/>
                <a:ea typeface="Inter" pitchFamily="34" charset="-122"/>
                <a:cs typeface="Inter" pitchFamily="34" charset="-120"/>
              </a:rPr>
              <a:t>Vision</a:t>
            </a:r>
            <a:endParaRPr lang="en-US" sz="6000" dirty="0"/>
          </a:p>
        </p:txBody>
      </p:sp>
      <p:sp>
        <p:nvSpPr>
          <p:cNvPr id="7" name="Text 5"/>
          <p:cNvSpPr/>
          <p:nvPr/>
        </p:nvSpPr>
        <p:spPr>
          <a:xfrm>
            <a:off x="457200" y="2331720"/>
            <a:ext cx="11247120" cy="868680"/>
          </a:xfrm>
          <a:prstGeom prst="rect">
            <a:avLst/>
          </a:prstGeom>
          <a:noFill/>
          <a:ln/>
        </p:spPr>
        <p:txBody>
          <a:bodyPr wrap="square" rtlCol="0" anchor="ctr"/>
          <a:lstStyle/>
          <a:p>
            <a:pPr indent="0" marL="0">
              <a:buNone/>
            </a:pPr>
            <a:r>
              <a:rPr lang="en-US" sz="6000" b="1" i="1" dirty="0">
                <a:solidFill>
                  <a:srgbClr val="A6AFC2"/>
                </a:solidFill>
                <a:latin typeface="Inter" pitchFamily="34" charset="0"/>
                <a:ea typeface="Inter" pitchFamily="34" charset="-122"/>
                <a:cs typeface="Inter" pitchFamily="34" charset="-120"/>
              </a:rPr>
              <a:t>to</a:t>
            </a:r>
            <a:endParaRPr lang="en-US" sz="6000" dirty="0"/>
          </a:p>
        </p:txBody>
      </p:sp>
      <p:sp>
        <p:nvSpPr>
          <p:cNvPr id="8" name="Text 6"/>
          <p:cNvSpPr/>
          <p:nvPr/>
        </p:nvSpPr>
        <p:spPr>
          <a:xfrm>
            <a:off x="457200" y="2971800"/>
            <a:ext cx="11247120" cy="868680"/>
          </a:xfrm>
          <a:prstGeom prst="rect">
            <a:avLst/>
          </a:prstGeom>
          <a:noFill/>
          <a:ln/>
        </p:spPr>
        <p:txBody>
          <a:bodyPr wrap="square" rtlCol="0" anchor="ctr"/>
          <a:lstStyle/>
          <a:p>
            <a:pPr indent="0" marL="0">
              <a:buNone/>
            </a:pPr>
            <a:r>
              <a:rPr lang="en-US" sz="6000" b="1" dirty="0">
                <a:solidFill>
                  <a:srgbClr val="E07B47"/>
                </a:solidFill>
                <a:latin typeface="Inter" pitchFamily="34" charset="0"/>
                <a:ea typeface="Inter" pitchFamily="34" charset="-122"/>
                <a:cs typeface="Inter" pitchFamily="34" charset="-120"/>
              </a:rPr>
              <a:t>Realization</a:t>
            </a:r>
            <a:endParaRPr lang="en-US" sz="6000" dirty="0"/>
          </a:p>
        </p:txBody>
      </p:sp>
      <p:sp>
        <p:nvSpPr>
          <p:cNvPr id="9" name="Text 7"/>
          <p:cNvSpPr/>
          <p:nvPr/>
        </p:nvSpPr>
        <p:spPr>
          <a:xfrm>
            <a:off x="457200" y="4206240"/>
            <a:ext cx="11247120" cy="457200"/>
          </a:xfrm>
          <a:prstGeom prst="rect">
            <a:avLst/>
          </a:prstGeom>
          <a:noFill/>
          <a:ln/>
        </p:spPr>
        <p:txBody>
          <a:bodyPr wrap="square" rtlCol="0" anchor="ctr"/>
          <a:lstStyle/>
          <a:p>
            <a:pPr indent="0" marL="0">
              <a:buNone/>
            </a:pPr>
            <a:r>
              <a:rPr lang="en-US" sz="1700" i="1" dirty="0">
                <a:solidFill>
                  <a:srgbClr val="A6AFC2"/>
                </a:solidFill>
                <a:latin typeface="Inter" pitchFamily="34" charset="0"/>
                <a:ea typeface="Inter" pitchFamily="34" charset="-122"/>
                <a:cs typeface="Inter" pitchFamily="34" charset="-120"/>
              </a:rPr>
              <a:t>How the Field IQ user journey becomes real software on Meta Ray-Ban Display.</a:t>
            </a:r>
            <a:endParaRPr lang="en-US" sz="1700" dirty="0"/>
          </a:p>
        </p:txBody>
      </p:sp>
      <p:sp>
        <p:nvSpPr>
          <p:cNvPr id="10" name="Text 8"/>
          <p:cNvSpPr/>
          <p:nvPr/>
        </p:nvSpPr>
        <p:spPr>
          <a:xfrm>
            <a:off x="457200" y="4663440"/>
            <a:ext cx="11247120" cy="365760"/>
          </a:xfrm>
          <a:prstGeom prst="rect">
            <a:avLst/>
          </a:prstGeom>
          <a:noFill/>
          <a:ln/>
        </p:spPr>
        <p:txBody>
          <a:bodyPr wrap="square" rtlCol="0" anchor="ctr"/>
          <a:lstStyle/>
          <a:p>
            <a:pPr indent="0" marL="0">
              <a:buNone/>
            </a:pPr>
            <a:r>
              <a:rPr lang="en-US" sz="1300" dirty="0">
                <a:solidFill>
                  <a:srgbClr val="F5F1E8"/>
                </a:solidFill>
                <a:latin typeface="Inter" pitchFamily="34" charset="0"/>
                <a:ea typeface="Inter" pitchFamily="34" charset="-122"/>
                <a:cs typeface="Inter" pitchFamily="34" charset="-120"/>
              </a:rPr>
              <a:t>Concrete first test case: DAC #811 LOTO Trainer · 10-step procedure · OSHA 29 CFR 1910.147.</a:t>
            </a:r>
            <a:endParaRPr lang="en-US" sz="1300" dirty="0"/>
          </a:p>
        </p:txBody>
      </p:sp>
      <p:sp>
        <p:nvSpPr>
          <p:cNvPr id="11" name="Shape 9"/>
          <p:cNvSpPr/>
          <p:nvPr/>
        </p:nvSpPr>
        <p:spPr>
          <a:xfrm>
            <a:off x="2502256" y="5440680"/>
            <a:ext cx="2286000" cy="457200"/>
          </a:xfrm>
          <a:prstGeom prst="roundRect">
            <a:avLst>
              <a:gd name="adj" fmla="val 50000"/>
            </a:avLst>
          </a:prstGeom>
          <a:solidFill>
            <a:srgbClr val="152033"/>
          </a:solidFill>
          <a:ln w="12700">
            <a:solidFill>
              <a:srgbClr val="A6AFC2"/>
            </a:solidFill>
            <a:prstDash val="solid"/>
          </a:ln>
        </p:spPr>
      </p:sp>
      <p:sp>
        <p:nvSpPr>
          <p:cNvPr id="12" name="Text 10"/>
          <p:cNvSpPr/>
          <p:nvPr/>
        </p:nvSpPr>
        <p:spPr>
          <a:xfrm>
            <a:off x="2502256" y="5440680"/>
            <a:ext cx="2286000" cy="457200"/>
          </a:xfrm>
          <a:prstGeom prst="rect">
            <a:avLst/>
          </a:prstGeom>
          <a:noFill/>
          <a:ln/>
        </p:spPr>
        <p:txBody>
          <a:bodyPr wrap="square" rtlCol="0" anchor="ctr"/>
          <a:lstStyle/>
          <a:p>
            <a:pPr algn="ctr" indent="0" marL="0">
              <a:buNone/>
            </a:pPr>
            <a:r>
              <a:rPr lang="en-US" sz="1100" b="1" spc="200" kern="0" dirty="0">
                <a:solidFill>
                  <a:srgbClr val="A6AFC2"/>
                </a:solidFill>
                <a:latin typeface="Inter" pitchFamily="34" charset="0"/>
                <a:ea typeface="Inter" pitchFamily="34" charset="-122"/>
                <a:cs typeface="Inter" pitchFamily="34" charset="-120"/>
              </a:rPr>
              <a:t>VISION</a:t>
            </a:r>
            <a:endParaRPr lang="en-US" sz="1100" dirty="0"/>
          </a:p>
        </p:txBody>
      </p:sp>
      <p:sp>
        <p:nvSpPr>
          <p:cNvPr id="13" name="Shape 11"/>
          <p:cNvSpPr/>
          <p:nvPr/>
        </p:nvSpPr>
        <p:spPr>
          <a:xfrm>
            <a:off x="4952848" y="5440680"/>
            <a:ext cx="2286000" cy="457200"/>
          </a:xfrm>
          <a:prstGeom prst="roundRect">
            <a:avLst>
              <a:gd name="adj" fmla="val 50000"/>
            </a:avLst>
          </a:prstGeom>
          <a:solidFill>
            <a:srgbClr val="152033"/>
          </a:solidFill>
          <a:ln w="12700">
            <a:solidFill>
              <a:srgbClr val="E07B47"/>
            </a:solidFill>
            <a:prstDash val="solid"/>
          </a:ln>
        </p:spPr>
      </p:sp>
      <p:sp>
        <p:nvSpPr>
          <p:cNvPr id="14" name="Text 12"/>
          <p:cNvSpPr/>
          <p:nvPr/>
        </p:nvSpPr>
        <p:spPr>
          <a:xfrm>
            <a:off x="4952848" y="5440680"/>
            <a:ext cx="2286000" cy="457200"/>
          </a:xfrm>
          <a:prstGeom prst="rect">
            <a:avLst/>
          </a:prstGeom>
          <a:noFill/>
          <a:ln/>
        </p:spPr>
        <p:txBody>
          <a:bodyPr wrap="square" rtlCol="0" anchor="ctr"/>
          <a:lstStyle/>
          <a:p>
            <a:pPr algn="ctr" indent="0" marL="0">
              <a:buNone/>
            </a:pPr>
            <a:r>
              <a:rPr lang="en-US" sz="1100" b="1" spc="200" kern="0" dirty="0">
                <a:solidFill>
                  <a:srgbClr val="E07B47"/>
                </a:solidFill>
                <a:latin typeface="Inter" pitchFamily="34" charset="0"/>
                <a:ea typeface="Inter" pitchFamily="34" charset="-122"/>
                <a:cs typeface="Inter" pitchFamily="34" charset="-120"/>
              </a:rPr>
              <a:t>REALIZATION</a:t>
            </a:r>
            <a:endParaRPr lang="en-US" sz="1100" dirty="0"/>
          </a:p>
        </p:txBody>
      </p:sp>
      <p:sp>
        <p:nvSpPr>
          <p:cNvPr id="15" name="Shape 13"/>
          <p:cNvSpPr/>
          <p:nvPr/>
        </p:nvSpPr>
        <p:spPr>
          <a:xfrm>
            <a:off x="7403440" y="5440680"/>
            <a:ext cx="2286000" cy="457200"/>
          </a:xfrm>
          <a:prstGeom prst="roundRect">
            <a:avLst>
              <a:gd name="adj" fmla="val 50000"/>
            </a:avLst>
          </a:prstGeom>
          <a:solidFill>
            <a:srgbClr val="152033"/>
          </a:solidFill>
          <a:ln w="12700">
            <a:solidFill>
              <a:srgbClr val="10B981"/>
            </a:solidFill>
            <a:prstDash val="solid"/>
          </a:ln>
        </p:spPr>
      </p:sp>
      <p:sp>
        <p:nvSpPr>
          <p:cNvPr id="16" name="Text 14"/>
          <p:cNvSpPr/>
          <p:nvPr/>
        </p:nvSpPr>
        <p:spPr>
          <a:xfrm>
            <a:off x="7403440" y="5440680"/>
            <a:ext cx="2286000" cy="457200"/>
          </a:xfrm>
          <a:prstGeom prst="rect">
            <a:avLst/>
          </a:prstGeom>
          <a:noFill/>
          <a:ln/>
        </p:spPr>
        <p:txBody>
          <a:bodyPr wrap="square" rtlCol="0" anchor="ctr"/>
          <a:lstStyle/>
          <a:p>
            <a:pPr algn="ctr" indent="0" marL="0">
              <a:buNone/>
            </a:pPr>
            <a:r>
              <a:rPr lang="en-US" sz="1100" b="1" spc="200" kern="0" dirty="0">
                <a:solidFill>
                  <a:srgbClr val="10B981"/>
                </a:solidFill>
                <a:latin typeface="Inter" pitchFamily="34" charset="0"/>
                <a:ea typeface="Inter" pitchFamily="34" charset="-122"/>
                <a:cs typeface="Inter" pitchFamily="34" charset="-120"/>
              </a:rPr>
              <a:t>DISCOVERIES</a:t>
            </a:r>
            <a:endParaRPr lang="en-US" sz="1100" dirty="0"/>
          </a:p>
        </p:txBody>
      </p:sp>
      <p:sp>
        <p:nvSpPr>
          <p:cNvPr id="17" name="Text 15"/>
          <p:cNvSpPr/>
          <p:nvPr/>
        </p:nvSpPr>
        <p:spPr>
          <a:xfrm>
            <a:off x="457200" y="6217920"/>
            <a:ext cx="11247120" cy="274320"/>
          </a:xfrm>
          <a:prstGeom prst="rect">
            <a:avLst/>
          </a:prstGeom>
          <a:noFill/>
          <a:ln/>
        </p:spPr>
        <p:txBody>
          <a:bodyPr wrap="square" rtlCol="0" anchor="ctr"/>
          <a:lstStyle/>
          <a:p>
            <a:pPr algn="ctr" indent="0" marL="0">
              <a:buNone/>
            </a:pPr>
            <a:r>
              <a:rPr lang="en-US" sz="1000" i="1" dirty="0">
                <a:solidFill>
                  <a:srgbClr val="6B7689"/>
                </a:solidFill>
                <a:latin typeface="Inter" pitchFamily="34" charset="0"/>
                <a:ea typeface="Inter" pitchFamily="34" charset="-122"/>
                <a:cs typeface="Inter" pitchFamily="34" charset="-120"/>
              </a:rPr>
              <a:t>Claude Cowork · for Dan Lejerskar, EON AI Ventures · May 25, 2026</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57200" y="320040"/>
            <a:ext cx="11247120" cy="274320"/>
          </a:xfrm>
          <a:prstGeom prst="rect">
            <a:avLst/>
          </a:prstGeom>
          <a:noFill/>
          <a:ln/>
        </p:spPr>
        <p:txBody>
          <a:bodyPr wrap="square" rtlCol="0" anchor="ctr"/>
          <a:lstStyle/>
          <a:p>
            <a:pPr indent="0" marL="0">
              <a:buNone/>
            </a:pPr>
            <a:r>
              <a:rPr lang="en-US" sz="1000" b="1" spc="400" kern="0" dirty="0">
                <a:solidFill>
                  <a:srgbClr val="6B7689"/>
                </a:solidFill>
                <a:latin typeface="Inter" pitchFamily="34" charset="0"/>
                <a:ea typeface="Inter" pitchFamily="34" charset="-122"/>
                <a:cs typeface="Inter" pitchFamily="34" charset="-120"/>
              </a:rPr>
              <a:t>HOW TO READ THIS DECK</a:t>
            </a:r>
            <a:endParaRPr lang="en-US" sz="1000" dirty="0"/>
          </a:p>
        </p:txBody>
      </p:sp>
      <p:sp>
        <p:nvSpPr>
          <p:cNvPr id="3" name="Text 1"/>
          <p:cNvSpPr/>
          <p:nvPr/>
        </p:nvSpPr>
        <p:spPr>
          <a:xfrm>
            <a:off x="457200" y="640080"/>
            <a:ext cx="11247120" cy="594360"/>
          </a:xfrm>
          <a:prstGeom prst="rect">
            <a:avLst/>
          </a:prstGeom>
          <a:noFill/>
          <a:ln/>
        </p:spPr>
        <p:txBody>
          <a:bodyPr wrap="square" rtlCol="0" anchor="ctr"/>
          <a:lstStyle/>
          <a:p>
            <a:pPr indent="0" marL="0">
              <a:buNone/>
            </a:pPr>
            <a:r>
              <a:rPr lang="en-US" sz="2200" b="1" dirty="0">
                <a:solidFill>
                  <a:srgbClr val="F5F1E8"/>
                </a:solidFill>
                <a:latin typeface="Inter" pitchFamily="34" charset="0"/>
                <a:ea typeface="Inter" pitchFamily="34" charset="-122"/>
                <a:cs typeface="Inter" pitchFamily="34" charset="-120"/>
              </a:rPr>
              <a:t>Three bands per step. Three personas across the procedure.</a:t>
            </a:r>
            <a:endParaRPr lang="en-US" sz="2200" dirty="0"/>
          </a:p>
        </p:txBody>
      </p:sp>
      <p:sp>
        <p:nvSpPr>
          <p:cNvPr id="4" name="Text 2"/>
          <p:cNvSpPr/>
          <p:nvPr/>
        </p:nvSpPr>
        <p:spPr>
          <a:xfrm>
            <a:off x="457200" y="1280160"/>
            <a:ext cx="11247120" cy="502920"/>
          </a:xfrm>
          <a:prstGeom prst="rect">
            <a:avLst/>
          </a:prstGeom>
          <a:noFill/>
          <a:ln/>
        </p:spPr>
        <p:txBody>
          <a:bodyPr wrap="square" rtlCol="0" anchor="ctr"/>
          <a:lstStyle/>
          <a:p>
            <a:pPr indent="0" marL="0">
              <a:buNone/>
            </a:pPr>
            <a:r>
              <a:rPr lang="en-US" sz="1300" i="1" dirty="0">
                <a:solidFill>
                  <a:srgbClr val="A6AFC2"/>
                </a:solidFill>
                <a:latin typeface="Inter" pitchFamily="34" charset="0"/>
                <a:ea typeface="Inter" pitchFamily="34" charset="-122"/>
                <a:cs typeface="Inter" pitchFamily="34" charset="-120"/>
              </a:rPr>
              <a:t>For every LOTO step: what the worker experiences (vision) · how the Meta hardware delivers it (realization) · what the SDK unlocks beyond the original plan (discoveries).</a:t>
            </a:r>
            <a:endParaRPr lang="en-US" sz="1300" dirty="0"/>
          </a:p>
        </p:txBody>
      </p:sp>
      <p:sp>
        <p:nvSpPr>
          <p:cNvPr id="5" name="Shape 3"/>
          <p:cNvSpPr/>
          <p:nvPr/>
        </p:nvSpPr>
        <p:spPr>
          <a:xfrm>
            <a:off x="457200" y="1965960"/>
            <a:ext cx="11247120" cy="2103120"/>
          </a:xfrm>
          <a:prstGeom prst="roundRect">
            <a:avLst>
              <a:gd name="adj" fmla="val 4348"/>
            </a:avLst>
          </a:prstGeom>
          <a:solidFill>
            <a:srgbClr val="1E2A40"/>
          </a:solidFill>
          <a:ln w="9525">
            <a:solidFill>
              <a:srgbClr val="2C3853"/>
            </a:solidFill>
            <a:prstDash val="solid"/>
          </a:ln>
        </p:spPr>
      </p:sp>
      <p:sp>
        <p:nvSpPr>
          <p:cNvPr id="6" name="Shape 4"/>
          <p:cNvSpPr/>
          <p:nvPr/>
        </p:nvSpPr>
        <p:spPr>
          <a:xfrm>
            <a:off x="640080" y="2148840"/>
            <a:ext cx="91440" cy="548640"/>
          </a:xfrm>
          <a:prstGeom prst="rect">
            <a:avLst/>
          </a:prstGeom>
          <a:solidFill>
            <a:srgbClr val="A6AFC2"/>
          </a:solidFill>
          <a:ln w="12700">
            <a:solidFill>
              <a:srgbClr val="A6AFC2"/>
            </a:solidFill>
            <a:prstDash val="solid"/>
          </a:ln>
        </p:spPr>
      </p:sp>
      <p:sp>
        <p:nvSpPr>
          <p:cNvPr id="7" name="Text 5"/>
          <p:cNvSpPr/>
          <p:nvPr/>
        </p:nvSpPr>
        <p:spPr>
          <a:xfrm>
            <a:off x="822960" y="2194560"/>
            <a:ext cx="2377440" cy="457200"/>
          </a:xfrm>
          <a:prstGeom prst="rect">
            <a:avLst/>
          </a:prstGeom>
          <a:noFill/>
          <a:ln/>
        </p:spPr>
        <p:txBody>
          <a:bodyPr wrap="square" rtlCol="0" anchor="ctr"/>
          <a:lstStyle/>
          <a:p>
            <a:pPr indent="0" marL="0">
              <a:buNone/>
            </a:pPr>
            <a:r>
              <a:rPr lang="en-US" sz="1200" b="1" spc="200" kern="0" dirty="0">
                <a:solidFill>
                  <a:srgbClr val="A6AFC2"/>
                </a:solidFill>
                <a:latin typeface="Inter" pitchFamily="34" charset="0"/>
                <a:ea typeface="Inter" pitchFamily="34" charset="-122"/>
                <a:cs typeface="Inter" pitchFamily="34" charset="-120"/>
              </a:rPr>
              <a:t>VISION</a:t>
            </a:r>
            <a:endParaRPr lang="en-US" sz="1200" dirty="0"/>
          </a:p>
        </p:txBody>
      </p:sp>
      <p:sp>
        <p:nvSpPr>
          <p:cNvPr id="8" name="Text 6"/>
          <p:cNvSpPr/>
          <p:nvPr/>
        </p:nvSpPr>
        <p:spPr>
          <a:xfrm>
            <a:off x="3291840" y="2194560"/>
            <a:ext cx="8229600" cy="457200"/>
          </a:xfrm>
          <a:prstGeom prst="rect">
            <a:avLst/>
          </a:prstGeom>
          <a:noFill/>
          <a:ln/>
        </p:spPr>
        <p:txBody>
          <a:bodyPr wrap="square" rtlCol="0" anchor="ctr"/>
          <a:lstStyle/>
          <a:p>
            <a:pPr indent="0" marL="0">
              <a:buNone/>
            </a:pPr>
            <a:r>
              <a:rPr lang="en-US" sz="1200" dirty="0">
                <a:solidFill>
                  <a:srgbClr val="F5F1E8"/>
                </a:solidFill>
                <a:latin typeface="Inter" pitchFamily="34" charset="0"/>
                <a:ea typeface="Inter" pitchFamily="34" charset="-122"/>
                <a:cs typeface="Inter" pitchFamily="34" charset="-120"/>
              </a:rPr>
              <a:t>What Maya sees, hears, and does. Plain language. Drawn from the user-journey deck + Vercel walkthrough.</a:t>
            </a:r>
            <a:endParaRPr lang="en-US" sz="1200" dirty="0"/>
          </a:p>
        </p:txBody>
      </p:sp>
      <p:sp>
        <p:nvSpPr>
          <p:cNvPr id="9" name="Shape 7"/>
          <p:cNvSpPr/>
          <p:nvPr/>
        </p:nvSpPr>
        <p:spPr>
          <a:xfrm>
            <a:off x="640080" y="2770632"/>
            <a:ext cx="91440" cy="548640"/>
          </a:xfrm>
          <a:prstGeom prst="rect">
            <a:avLst/>
          </a:prstGeom>
          <a:solidFill>
            <a:srgbClr val="E07B47"/>
          </a:solidFill>
          <a:ln w="12700">
            <a:solidFill>
              <a:srgbClr val="E07B47"/>
            </a:solidFill>
            <a:prstDash val="solid"/>
          </a:ln>
        </p:spPr>
      </p:sp>
      <p:sp>
        <p:nvSpPr>
          <p:cNvPr id="10" name="Text 8"/>
          <p:cNvSpPr/>
          <p:nvPr/>
        </p:nvSpPr>
        <p:spPr>
          <a:xfrm>
            <a:off x="822960" y="2816352"/>
            <a:ext cx="2377440" cy="457200"/>
          </a:xfrm>
          <a:prstGeom prst="rect">
            <a:avLst/>
          </a:prstGeom>
          <a:noFill/>
          <a:ln/>
        </p:spPr>
        <p:txBody>
          <a:bodyPr wrap="square" rtlCol="0" anchor="ctr"/>
          <a:lstStyle/>
          <a:p>
            <a:pPr indent="0" marL="0">
              <a:buNone/>
            </a:pPr>
            <a:r>
              <a:rPr lang="en-US" sz="1200" b="1" spc="200" kern="0" dirty="0">
                <a:solidFill>
                  <a:srgbClr val="E07B47"/>
                </a:solidFill>
                <a:latin typeface="Inter" pitchFamily="34" charset="0"/>
                <a:ea typeface="Inter" pitchFamily="34" charset="-122"/>
                <a:cs typeface="Inter" pitchFamily="34" charset="-120"/>
              </a:rPr>
              <a:t>REALIZATION</a:t>
            </a:r>
            <a:endParaRPr lang="en-US" sz="1200" dirty="0"/>
          </a:p>
        </p:txBody>
      </p:sp>
      <p:sp>
        <p:nvSpPr>
          <p:cNvPr id="11" name="Text 9"/>
          <p:cNvSpPr/>
          <p:nvPr/>
        </p:nvSpPr>
        <p:spPr>
          <a:xfrm>
            <a:off x="3291840" y="2816352"/>
            <a:ext cx="8229600" cy="457200"/>
          </a:xfrm>
          <a:prstGeom prst="rect">
            <a:avLst/>
          </a:prstGeom>
          <a:noFill/>
          <a:ln/>
        </p:spPr>
        <p:txBody>
          <a:bodyPr wrap="square" rtlCol="0" anchor="ctr"/>
          <a:lstStyle/>
          <a:p>
            <a:pPr indent="0" marL="0">
              <a:buNone/>
            </a:pPr>
            <a:r>
              <a:rPr lang="en-US" sz="1200" dirty="0">
                <a:solidFill>
                  <a:srgbClr val="F5F1E8"/>
                </a:solidFill>
                <a:latin typeface="Inter" pitchFamily="34" charset="0"/>
                <a:ea typeface="Inter" pitchFamily="34" charset="-122"/>
                <a:cs typeface="Inter" pitchFamily="34" charset="-120"/>
              </a:rPr>
              <a:t>Which SDK surface, which API call, which data flow. The engineering layer — backed by the Meta Wearables SDK + our Field IQ Cloud.</a:t>
            </a:r>
            <a:endParaRPr lang="en-US" sz="1200" dirty="0"/>
          </a:p>
        </p:txBody>
      </p:sp>
      <p:sp>
        <p:nvSpPr>
          <p:cNvPr id="12" name="Shape 10"/>
          <p:cNvSpPr/>
          <p:nvPr/>
        </p:nvSpPr>
        <p:spPr>
          <a:xfrm>
            <a:off x="640080" y="3392424"/>
            <a:ext cx="91440" cy="548640"/>
          </a:xfrm>
          <a:prstGeom prst="rect">
            <a:avLst/>
          </a:prstGeom>
          <a:solidFill>
            <a:srgbClr val="10B981"/>
          </a:solidFill>
          <a:ln w="12700">
            <a:solidFill>
              <a:srgbClr val="10B981"/>
            </a:solidFill>
            <a:prstDash val="solid"/>
          </a:ln>
        </p:spPr>
      </p:sp>
      <p:sp>
        <p:nvSpPr>
          <p:cNvPr id="13" name="Text 11"/>
          <p:cNvSpPr/>
          <p:nvPr/>
        </p:nvSpPr>
        <p:spPr>
          <a:xfrm>
            <a:off x="822960" y="3438144"/>
            <a:ext cx="2377440" cy="457200"/>
          </a:xfrm>
          <a:prstGeom prst="rect">
            <a:avLst/>
          </a:prstGeom>
          <a:noFill/>
          <a:ln/>
        </p:spPr>
        <p:txBody>
          <a:bodyPr wrap="square" rtlCol="0" anchor="ctr"/>
          <a:lstStyle/>
          <a:p>
            <a:pPr indent="0" marL="0">
              <a:buNone/>
            </a:pPr>
            <a:r>
              <a:rPr lang="en-US" sz="1200" b="1" spc="200" kern="0" dirty="0">
                <a:solidFill>
                  <a:srgbClr val="10B981"/>
                </a:solidFill>
                <a:latin typeface="Inter" pitchFamily="34" charset="0"/>
                <a:ea typeface="Inter" pitchFamily="34" charset="-122"/>
                <a:cs typeface="Inter" pitchFamily="34" charset="-120"/>
              </a:rPr>
              <a:t>DISCOVERIES</a:t>
            </a:r>
            <a:endParaRPr lang="en-US" sz="1200" dirty="0"/>
          </a:p>
        </p:txBody>
      </p:sp>
      <p:sp>
        <p:nvSpPr>
          <p:cNvPr id="14" name="Text 12"/>
          <p:cNvSpPr/>
          <p:nvPr/>
        </p:nvSpPr>
        <p:spPr>
          <a:xfrm>
            <a:off x="3291840" y="3438144"/>
            <a:ext cx="8229600" cy="457200"/>
          </a:xfrm>
          <a:prstGeom prst="rect">
            <a:avLst/>
          </a:prstGeom>
          <a:noFill/>
          <a:ln/>
        </p:spPr>
        <p:txBody>
          <a:bodyPr wrap="square" rtlCol="0" anchor="ctr"/>
          <a:lstStyle/>
          <a:p>
            <a:pPr indent="0" marL="0">
              <a:buNone/>
            </a:pPr>
            <a:r>
              <a:rPr lang="en-US" sz="1200" dirty="0">
                <a:solidFill>
                  <a:srgbClr val="F5F1E8"/>
                </a:solidFill>
                <a:latin typeface="Inter" pitchFamily="34" charset="0"/>
                <a:ea typeface="Inter" pitchFamily="34" charset="-122"/>
                <a:cs typeface="Inter" pitchFamily="34" charset="-120"/>
              </a:rPr>
              <a:t>Capabilities the SDK enables beyond our original vision: display recording, captions, neural handwriting, color-coded padlock verification, critical-incident flagging.</a:t>
            </a:r>
            <a:endParaRPr lang="en-US" sz="1200" dirty="0"/>
          </a:p>
        </p:txBody>
      </p:sp>
      <p:sp>
        <p:nvSpPr>
          <p:cNvPr id="15" name="Shape 13"/>
          <p:cNvSpPr/>
          <p:nvPr/>
        </p:nvSpPr>
        <p:spPr>
          <a:xfrm>
            <a:off x="457200" y="4297680"/>
            <a:ext cx="2743200" cy="1828800"/>
          </a:xfrm>
          <a:prstGeom prst="roundRect">
            <a:avLst>
              <a:gd name="adj" fmla="val 5000"/>
            </a:avLst>
          </a:prstGeom>
          <a:solidFill>
            <a:srgbClr val="152033"/>
          </a:solidFill>
          <a:ln w="9525">
            <a:solidFill>
              <a:srgbClr val="2C3853"/>
            </a:solidFill>
            <a:prstDash val="solid"/>
          </a:ln>
        </p:spPr>
      </p:sp>
      <p:sp>
        <p:nvSpPr>
          <p:cNvPr id="16" name="Shape 14"/>
          <p:cNvSpPr/>
          <p:nvPr/>
        </p:nvSpPr>
        <p:spPr>
          <a:xfrm>
            <a:off x="457200" y="4297680"/>
            <a:ext cx="2743200" cy="54864"/>
          </a:xfrm>
          <a:prstGeom prst="rect">
            <a:avLst/>
          </a:prstGeom>
          <a:solidFill>
            <a:srgbClr val="E07B47"/>
          </a:solidFill>
          <a:ln w="12700">
            <a:solidFill>
              <a:srgbClr val="E07B47"/>
            </a:solidFill>
            <a:prstDash val="solid"/>
          </a:ln>
        </p:spPr>
      </p:sp>
      <p:sp>
        <p:nvSpPr>
          <p:cNvPr id="17" name="Text 15"/>
          <p:cNvSpPr/>
          <p:nvPr/>
        </p:nvSpPr>
        <p:spPr>
          <a:xfrm>
            <a:off x="685800" y="4480560"/>
            <a:ext cx="2286000" cy="365760"/>
          </a:xfrm>
          <a:prstGeom prst="rect">
            <a:avLst/>
          </a:prstGeom>
          <a:noFill/>
          <a:ln/>
        </p:spPr>
        <p:txBody>
          <a:bodyPr wrap="square" rtlCol="0" anchor="t"/>
          <a:lstStyle/>
          <a:p>
            <a:pPr indent="0" marL="0">
              <a:buNone/>
            </a:pPr>
            <a:r>
              <a:rPr lang="en-US" sz="1800" b="1" dirty="0">
                <a:solidFill>
                  <a:srgbClr val="F5F1E8"/>
                </a:solidFill>
                <a:latin typeface="Inter" pitchFamily="34" charset="0"/>
                <a:ea typeface="Inter" pitchFamily="34" charset="-122"/>
                <a:cs typeface="Inter" pitchFamily="34" charset="-120"/>
              </a:rPr>
              <a:t>Maya</a:t>
            </a:r>
            <a:endParaRPr lang="en-US" sz="1800" dirty="0"/>
          </a:p>
        </p:txBody>
      </p:sp>
      <p:sp>
        <p:nvSpPr>
          <p:cNvPr id="18" name="Text 16"/>
          <p:cNvSpPr/>
          <p:nvPr/>
        </p:nvSpPr>
        <p:spPr>
          <a:xfrm>
            <a:off x="685800" y="4846320"/>
            <a:ext cx="2286000" cy="274320"/>
          </a:xfrm>
          <a:prstGeom prst="rect">
            <a:avLst/>
          </a:prstGeom>
          <a:noFill/>
          <a:ln/>
        </p:spPr>
        <p:txBody>
          <a:bodyPr wrap="square" rtlCol="0" anchor="t"/>
          <a:lstStyle/>
          <a:p>
            <a:pPr indent="0" marL="0">
              <a:buNone/>
            </a:pPr>
            <a:r>
              <a:rPr lang="en-US" sz="1000" i="1" dirty="0">
                <a:solidFill>
                  <a:srgbClr val="E07B47"/>
                </a:solidFill>
                <a:latin typeface="Inter" pitchFamily="34" charset="0"/>
                <a:ea typeface="Inter" pitchFamily="34" charset="-122"/>
                <a:cs typeface="Inter" pitchFamily="34" charset="-120"/>
              </a:rPr>
              <a:t>Trainee · Field Technician</a:t>
            </a:r>
            <a:endParaRPr lang="en-US" sz="1000" dirty="0"/>
          </a:p>
        </p:txBody>
      </p:sp>
      <p:sp>
        <p:nvSpPr>
          <p:cNvPr id="19" name="Text 17"/>
          <p:cNvSpPr/>
          <p:nvPr/>
        </p:nvSpPr>
        <p:spPr>
          <a:xfrm>
            <a:off x="685800" y="5166360"/>
            <a:ext cx="2286000" cy="914400"/>
          </a:xfrm>
          <a:prstGeom prst="rect">
            <a:avLst/>
          </a:prstGeom>
          <a:noFill/>
          <a:ln/>
        </p:spPr>
        <p:txBody>
          <a:bodyPr wrap="square" rtlCol="0" anchor="t"/>
          <a:lstStyle/>
          <a:p>
            <a:pPr indent="0" marL="0">
              <a:buNone/>
            </a:pPr>
            <a:r>
              <a:rPr lang="en-US" sz="1100" dirty="0">
                <a:solidFill>
                  <a:srgbClr val="A6AFC2"/>
                </a:solidFill>
                <a:latin typeface="Inter" pitchFamily="34" charset="0"/>
                <a:ea typeface="Inter" pitchFamily="34" charset="-122"/>
                <a:cs typeface="Inter" pitchFamily="34" charset="-120"/>
              </a:rPr>
              <a:t>Wears the glasses + Neural Band. Runs the 10-step procedure. Captures verification photos by voice.</a:t>
            </a:r>
            <a:endParaRPr lang="en-US" sz="1100" dirty="0"/>
          </a:p>
        </p:txBody>
      </p:sp>
      <p:sp>
        <p:nvSpPr>
          <p:cNvPr id="20" name="Shape 18"/>
          <p:cNvSpPr/>
          <p:nvPr/>
        </p:nvSpPr>
        <p:spPr>
          <a:xfrm>
            <a:off x="3364992" y="4297680"/>
            <a:ext cx="2743200" cy="1828800"/>
          </a:xfrm>
          <a:prstGeom prst="roundRect">
            <a:avLst>
              <a:gd name="adj" fmla="val 5000"/>
            </a:avLst>
          </a:prstGeom>
          <a:solidFill>
            <a:srgbClr val="152033"/>
          </a:solidFill>
          <a:ln w="9525">
            <a:solidFill>
              <a:srgbClr val="2C3853"/>
            </a:solidFill>
            <a:prstDash val="solid"/>
          </a:ln>
        </p:spPr>
      </p:sp>
      <p:sp>
        <p:nvSpPr>
          <p:cNvPr id="21" name="Shape 19"/>
          <p:cNvSpPr/>
          <p:nvPr/>
        </p:nvSpPr>
        <p:spPr>
          <a:xfrm>
            <a:off x="3364992" y="4297680"/>
            <a:ext cx="2743200" cy="54864"/>
          </a:xfrm>
          <a:prstGeom prst="rect">
            <a:avLst/>
          </a:prstGeom>
          <a:solidFill>
            <a:srgbClr val="B284E6"/>
          </a:solidFill>
          <a:ln w="12700">
            <a:solidFill>
              <a:srgbClr val="B284E6"/>
            </a:solidFill>
            <a:prstDash val="solid"/>
          </a:ln>
        </p:spPr>
      </p:sp>
      <p:sp>
        <p:nvSpPr>
          <p:cNvPr id="22" name="Text 20"/>
          <p:cNvSpPr/>
          <p:nvPr/>
        </p:nvSpPr>
        <p:spPr>
          <a:xfrm>
            <a:off x="3593592" y="4480560"/>
            <a:ext cx="2286000" cy="365760"/>
          </a:xfrm>
          <a:prstGeom prst="rect">
            <a:avLst/>
          </a:prstGeom>
          <a:noFill/>
          <a:ln/>
        </p:spPr>
        <p:txBody>
          <a:bodyPr wrap="square" rtlCol="0" anchor="t"/>
          <a:lstStyle/>
          <a:p>
            <a:pPr indent="0" marL="0">
              <a:buNone/>
            </a:pPr>
            <a:r>
              <a:rPr lang="en-US" sz="1800" b="1" dirty="0">
                <a:solidFill>
                  <a:srgbClr val="F5F1E8"/>
                </a:solidFill>
                <a:latin typeface="Inter" pitchFamily="34" charset="0"/>
                <a:ea typeface="Inter" pitchFamily="34" charset="-122"/>
                <a:cs typeface="Inter" pitchFamily="34" charset="-120"/>
              </a:rPr>
              <a:t>Carlos</a:t>
            </a:r>
            <a:endParaRPr lang="en-US" sz="1800" dirty="0"/>
          </a:p>
        </p:txBody>
      </p:sp>
      <p:sp>
        <p:nvSpPr>
          <p:cNvPr id="23" name="Text 21"/>
          <p:cNvSpPr/>
          <p:nvPr/>
        </p:nvSpPr>
        <p:spPr>
          <a:xfrm>
            <a:off x="3593592" y="4846320"/>
            <a:ext cx="2286000" cy="274320"/>
          </a:xfrm>
          <a:prstGeom prst="rect">
            <a:avLst/>
          </a:prstGeom>
          <a:noFill/>
          <a:ln/>
        </p:spPr>
        <p:txBody>
          <a:bodyPr wrap="square" rtlCol="0" anchor="t"/>
          <a:lstStyle/>
          <a:p>
            <a:pPr indent="0" marL="0">
              <a:buNone/>
            </a:pPr>
            <a:r>
              <a:rPr lang="en-US" sz="1000" i="1" dirty="0">
                <a:solidFill>
                  <a:srgbClr val="B284E6"/>
                </a:solidFill>
                <a:latin typeface="Inter" pitchFamily="34" charset="0"/>
                <a:ea typeface="Inter" pitchFamily="34" charset="-122"/>
                <a:cs typeface="Inter" pitchFamily="34" charset="-120"/>
              </a:rPr>
              <a:t>Trainer · Safety Coach</a:t>
            </a:r>
            <a:endParaRPr lang="en-US" sz="1000" dirty="0"/>
          </a:p>
        </p:txBody>
      </p:sp>
      <p:sp>
        <p:nvSpPr>
          <p:cNvPr id="24" name="Text 22"/>
          <p:cNvSpPr/>
          <p:nvPr/>
        </p:nvSpPr>
        <p:spPr>
          <a:xfrm>
            <a:off x="3593592" y="5166360"/>
            <a:ext cx="2286000" cy="914400"/>
          </a:xfrm>
          <a:prstGeom prst="rect">
            <a:avLst/>
          </a:prstGeom>
          <a:noFill/>
          <a:ln/>
        </p:spPr>
        <p:txBody>
          <a:bodyPr wrap="square" rtlCol="0" anchor="t"/>
          <a:lstStyle/>
          <a:p>
            <a:pPr indent="0" marL="0">
              <a:buNone/>
            </a:pPr>
            <a:r>
              <a:rPr lang="en-US" sz="1100" dirty="0">
                <a:solidFill>
                  <a:srgbClr val="A6AFC2"/>
                </a:solidFill>
                <a:latin typeface="Inter" pitchFamily="34" charset="0"/>
                <a:ea typeface="Inter" pitchFamily="34" charset="-122"/>
                <a:cs typeface="Inter" pitchFamily="34" charset="-120"/>
              </a:rPr>
              <a:t>Tablet at the front of the training bay. Watches the live feed. Coaches in real time. Signs the audit report.</a:t>
            </a:r>
            <a:endParaRPr lang="en-US" sz="1100" dirty="0"/>
          </a:p>
        </p:txBody>
      </p:sp>
      <p:sp>
        <p:nvSpPr>
          <p:cNvPr id="25" name="Shape 23"/>
          <p:cNvSpPr/>
          <p:nvPr/>
        </p:nvSpPr>
        <p:spPr>
          <a:xfrm>
            <a:off x="6272784" y="4297680"/>
            <a:ext cx="2743200" cy="1828800"/>
          </a:xfrm>
          <a:prstGeom prst="roundRect">
            <a:avLst>
              <a:gd name="adj" fmla="val 5000"/>
            </a:avLst>
          </a:prstGeom>
          <a:solidFill>
            <a:srgbClr val="152033"/>
          </a:solidFill>
          <a:ln w="9525">
            <a:solidFill>
              <a:srgbClr val="2C3853"/>
            </a:solidFill>
            <a:prstDash val="solid"/>
          </a:ln>
        </p:spPr>
      </p:sp>
      <p:sp>
        <p:nvSpPr>
          <p:cNvPr id="26" name="Shape 24"/>
          <p:cNvSpPr/>
          <p:nvPr/>
        </p:nvSpPr>
        <p:spPr>
          <a:xfrm>
            <a:off x="6272784" y="4297680"/>
            <a:ext cx="2743200" cy="54864"/>
          </a:xfrm>
          <a:prstGeom prst="rect">
            <a:avLst/>
          </a:prstGeom>
          <a:solidFill>
            <a:srgbClr val="10B981"/>
          </a:solidFill>
          <a:ln w="12700">
            <a:solidFill>
              <a:srgbClr val="10B981"/>
            </a:solidFill>
            <a:prstDash val="solid"/>
          </a:ln>
        </p:spPr>
      </p:sp>
      <p:sp>
        <p:nvSpPr>
          <p:cNvPr id="27" name="Text 25"/>
          <p:cNvSpPr/>
          <p:nvPr/>
        </p:nvSpPr>
        <p:spPr>
          <a:xfrm>
            <a:off x="6501384" y="4480560"/>
            <a:ext cx="2286000" cy="365760"/>
          </a:xfrm>
          <a:prstGeom prst="rect">
            <a:avLst/>
          </a:prstGeom>
          <a:noFill/>
          <a:ln/>
        </p:spPr>
        <p:txBody>
          <a:bodyPr wrap="square" rtlCol="0" anchor="t"/>
          <a:lstStyle/>
          <a:p>
            <a:pPr indent="0" marL="0">
              <a:buNone/>
            </a:pPr>
            <a:r>
              <a:rPr lang="en-US" sz="1800" b="1" dirty="0">
                <a:solidFill>
                  <a:srgbClr val="F5F1E8"/>
                </a:solidFill>
                <a:latin typeface="Inter" pitchFamily="34" charset="0"/>
                <a:ea typeface="Inter" pitchFamily="34" charset="-122"/>
                <a:cs typeface="Inter" pitchFamily="34" charset="-120"/>
              </a:rPr>
              <a:t>Priya</a:t>
            </a:r>
            <a:endParaRPr lang="en-US" sz="1800" dirty="0"/>
          </a:p>
        </p:txBody>
      </p:sp>
      <p:sp>
        <p:nvSpPr>
          <p:cNvPr id="28" name="Text 26"/>
          <p:cNvSpPr/>
          <p:nvPr/>
        </p:nvSpPr>
        <p:spPr>
          <a:xfrm>
            <a:off x="6501384" y="4846320"/>
            <a:ext cx="2286000" cy="274320"/>
          </a:xfrm>
          <a:prstGeom prst="rect">
            <a:avLst/>
          </a:prstGeom>
          <a:noFill/>
          <a:ln/>
        </p:spPr>
        <p:txBody>
          <a:bodyPr wrap="square" rtlCol="0" anchor="t"/>
          <a:lstStyle/>
          <a:p>
            <a:pPr indent="0" marL="0">
              <a:buNone/>
            </a:pPr>
            <a:r>
              <a:rPr lang="en-US" sz="1000" i="1" dirty="0">
                <a:solidFill>
                  <a:srgbClr val="10B981"/>
                </a:solidFill>
                <a:latin typeface="Inter" pitchFamily="34" charset="0"/>
                <a:ea typeface="Inter" pitchFamily="34" charset="-122"/>
                <a:cs typeface="Inter" pitchFamily="34" charset="-120"/>
              </a:rPr>
              <a:t>Supervisor · Safety Manager</a:t>
            </a:r>
            <a:endParaRPr lang="en-US" sz="1000" dirty="0"/>
          </a:p>
        </p:txBody>
      </p:sp>
      <p:sp>
        <p:nvSpPr>
          <p:cNvPr id="29" name="Text 27"/>
          <p:cNvSpPr/>
          <p:nvPr/>
        </p:nvSpPr>
        <p:spPr>
          <a:xfrm>
            <a:off x="6501384" y="5166360"/>
            <a:ext cx="2286000" cy="914400"/>
          </a:xfrm>
          <a:prstGeom prst="rect">
            <a:avLst/>
          </a:prstGeom>
          <a:noFill/>
          <a:ln/>
        </p:spPr>
        <p:txBody>
          <a:bodyPr wrap="square" rtlCol="0" anchor="t"/>
          <a:lstStyle/>
          <a:p>
            <a:pPr indent="0" marL="0">
              <a:buNone/>
            </a:pPr>
            <a:r>
              <a:rPr lang="en-US" sz="1100" dirty="0">
                <a:solidFill>
                  <a:srgbClr val="A6AFC2"/>
                </a:solidFill>
                <a:latin typeface="Inter" pitchFamily="34" charset="0"/>
                <a:ea typeface="Inter" pitchFamily="34" charset="-122"/>
                <a:cs typeface="Inter" pitchFamily="34" charset="-120"/>
              </a:rPr>
              <a:t>Desktop, often at HQ. Sees all active sessions across all bays. Generates compliance reports for OSHA.</a:t>
            </a:r>
            <a:endParaRPr lang="en-US" sz="1100" dirty="0"/>
          </a:p>
        </p:txBody>
      </p:sp>
      <p:sp>
        <p:nvSpPr>
          <p:cNvPr id="30" name="Shape 28"/>
          <p:cNvSpPr/>
          <p:nvPr/>
        </p:nvSpPr>
        <p:spPr>
          <a:xfrm>
            <a:off x="9180576" y="4297680"/>
            <a:ext cx="2553919" cy="1828800"/>
          </a:xfrm>
          <a:prstGeom prst="roundRect">
            <a:avLst>
              <a:gd name="adj" fmla="val 5000"/>
            </a:avLst>
          </a:prstGeom>
          <a:solidFill>
            <a:srgbClr val="152033"/>
          </a:solidFill>
          <a:ln w="9525">
            <a:solidFill>
              <a:srgbClr val="0066FF"/>
            </a:solidFill>
            <a:prstDash val="solid"/>
          </a:ln>
        </p:spPr>
      </p:sp>
      <p:sp>
        <p:nvSpPr>
          <p:cNvPr id="31" name="Shape 29"/>
          <p:cNvSpPr/>
          <p:nvPr/>
        </p:nvSpPr>
        <p:spPr>
          <a:xfrm>
            <a:off x="9180576" y="4297680"/>
            <a:ext cx="2553919" cy="54864"/>
          </a:xfrm>
          <a:prstGeom prst="rect">
            <a:avLst/>
          </a:prstGeom>
          <a:solidFill>
            <a:srgbClr val="0066FF"/>
          </a:solidFill>
          <a:ln w="12700">
            <a:solidFill>
              <a:srgbClr val="0066FF"/>
            </a:solidFill>
            <a:prstDash val="solid"/>
          </a:ln>
        </p:spPr>
      </p:sp>
      <p:sp>
        <p:nvSpPr>
          <p:cNvPr id="32" name="Text 30"/>
          <p:cNvSpPr/>
          <p:nvPr/>
        </p:nvSpPr>
        <p:spPr>
          <a:xfrm>
            <a:off x="9409176" y="4480560"/>
            <a:ext cx="2096719" cy="274320"/>
          </a:xfrm>
          <a:prstGeom prst="rect">
            <a:avLst/>
          </a:prstGeom>
          <a:noFill/>
          <a:ln/>
        </p:spPr>
        <p:txBody>
          <a:bodyPr wrap="square" rtlCol="0" anchor="t"/>
          <a:lstStyle/>
          <a:p>
            <a:pPr indent="0" marL="0">
              <a:buNone/>
            </a:pPr>
            <a:r>
              <a:rPr lang="en-US" sz="1000" b="1" spc="300" kern="0" dirty="0">
                <a:solidFill>
                  <a:srgbClr val="0066FF"/>
                </a:solidFill>
                <a:latin typeface="Inter" pitchFamily="34" charset="0"/>
                <a:ea typeface="Inter" pitchFamily="34" charset="-122"/>
                <a:cs typeface="Inter" pitchFamily="34" charset="-120"/>
              </a:rPr>
              <a:t>META SDK SPLIT (v1)</a:t>
            </a:r>
            <a:endParaRPr lang="en-US" sz="1000" dirty="0"/>
          </a:p>
        </p:txBody>
      </p:sp>
      <p:sp>
        <p:nvSpPr>
          <p:cNvPr id="33" name="Text 31"/>
          <p:cNvSpPr/>
          <p:nvPr/>
        </p:nvSpPr>
        <p:spPr>
          <a:xfrm>
            <a:off x="9409176" y="4800600"/>
            <a:ext cx="2096719" cy="274320"/>
          </a:xfrm>
          <a:prstGeom prst="rect">
            <a:avLst/>
          </a:prstGeom>
          <a:noFill/>
          <a:ln/>
        </p:spPr>
        <p:txBody>
          <a:bodyPr wrap="square" rtlCol="0" anchor="t"/>
          <a:lstStyle/>
          <a:p>
            <a:pPr indent="0" marL="0">
              <a:buNone/>
            </a:pPr>
            <a:r>
              <a:rPr lang="en-US" sz="1200" b="1" dirty="0">
                <a:solidFill>
                  <a:srgbClr val="F5F1E8"/>
                </a:solidFill>
                <a:latin typeface="Inter" pitchFamily="34" charset="0"/>
                <a:ea typeface="Inter" pitchFamily="34" charset="-122"/>
                <a:cs typeface="Inter" pitchFamily="34" charset="-120"/>
              </a:rPr>
              <a:t>Web Apps SDK</a:t>
            </a:r>
            <a:endParaRPr lang="en-US" sz="1200" dirty="0"/>
          </a:p>
        </p:txBody>
      </p:sp>
      <p:sp>
        <p:nvSpPr>
          <p:cNvPr id="34" name="Text 32"/>
          <p:cNvSpPr/>
          <p:nvPr/>
        </p:nvSpPr>
        <p:spPr>
          <a:xfrm>
            <a:off x="9409176" y="5074920"/>
            <a:ext cx="2096719" cy="274320"/>
          </a:xfrm>
          <a:prstGeom prst="rect">
            <a:avLst/>
          </a:prstGeom>
          <a:noFill/>
          <a:ln/>
        </p:spPr>
        <p:txBody>
          <a:bodyPr wrap="square" rtlCol="0" anchor="t"/>
          <a:lstStyle/>
          <a:p>
            <a:pPr indent="0" marL="0">
              <a:buNone/>
            </a:pPr>
            <a:r>
              <a:rPr lang="en-US" sz="1000" i="1" dirty="0">
                <a:solidFill>
                  <a:srgbClr val="A6AFC2"/>
                </a:solidFill>
                <a:latin typeface="Inter" pitchFamily="34" charset="0"/>
                <a:ea typeface="Inter" pitchFamily="34" charset="-122"/>
                <a:cs typeface="Inter" pitchFamily="34" charset="-120"/>
              </a:rPr>
              <a:t>renders HUD · NO camera in v1</a:t>
            </a:r>
            <a:endParaRPr lang="en-US" sz="1000" dirty="0"/>
          </a:p>
        </p:txBody>
      </p:sp>
      <p:sp>
        <p:nvSpPr>
          <p:cNvPr id="35" name="Text 33"/>
          <p:cNvSpPr/>
          <p:nvPr/>
        </p:nvSpPr>
        <p:spPr>
          <a:xfrm>
            <a:off x="9409176" y="5394960"/>
            <a:ext cx="2096719" cy="274320"/>
          </a:xfrm>
          <a:prstGeom prst="rect">
            <a:avLst/>
          </a:prstGeom>
          <a:noFill/>
          <a:ln/>
        </p:spPr>
        <p:txBody>
          <a:bodyPr wrap="square" rtlCol="0" anchor="t"/>
          <a:lstStyle/>
          <a:p>
            <a:pPr indent="0" marL="0">
              <a:buNone/>
            </a:pPr>
            <a:r>
              <a:rPr lang="en-US" sz="1200" b="1" dirty="0">
                <a:solidFill>
                  <a:srgbClr val="F5F1E8"/>
                </a:solidFill>
                <a:latin typeface="Inter" pitchFamily="34" charset="0"/>
                <a:ea typeface="Inter" pitchFamily="34" charset="-122"/>
                <a:cs typeface="Inter" pitchFamily="34" charset="-120"/>
              </a:rPr>
              <a:t>DAT SDK (mobile)</a:t>
            </a:r>
            <a:endParaRPr lang="en-US" sz="1200" dirty="0"/>
          </a:p>
        </p:txBody>
      </p:sp>
      <p:sp>
        <p:nvSpPr>
          <p:cNvPr id="36" name="Text 34"/>
          <p:cNvSpPr/>
          <p:nvPr/>
        </p:nvSpPr>
        <p:spPr>
          <a:xfrm>
            <a:off x="9409176" y="5669280"/>
            <a:ext cx="2096719" cy="274320"/>
          </a:xfrm>
          <a:prstGeom prst="rect">
            <a:avLst/>
          </a:prstGeom>
          <a:noFill/>
          <a:ln/>
        </p:spPr>
        <p:txBody>
          <a:bodyPr wrap="square" rtlCol="0" anchor="t"/>
          <a:lstStyle/>
          <a:p>
            <a:pPr indent="0" marL="0">
              <a:buNone/>
            </a:pPr>
            <a:r>
              <a:rPr lang="en-US" sz="1000" i="1" dirty="0">
                <a:solidFill>
                  <a:srgbClr val="A6AFC2"/>
                </a:solidFill>
                <a:latin typeface="Inter" pitchFamily="34" charset="0"/>
                <a:ea typeface="Inter" pitchFamily="34" charset="-122"/>
                <a:cs typeface="Inter" pitchFamily="34" charset="-120"/>
              </a:rPr>
              <a:t>captures photos + audio</a:t>
            </a:r>
            <a:endParaRPr lang="en-US" sz="1000" dirty="0"/>
          </a:p>
        </p:txBody>
      </p:sp>
      <p:sp>
        <p:nvSpPr>
          <p:cNvPr id="37" name="Text 35"/>
          <p:cNvSpPr/>
          <p:nvPr/>
        </p:nvSpPr>
        <p:spPr>
          <a:xfrm>
            <a:off x="457200" y="6565392"/>
            <a:ext cx="11247120" cy="228600"/>
          </a:xfrm>
          <a:prstGeom prst="rect">
            <a:avLst/>
          </a:prstGeom>
          <a:noFill/>
          <a:ln/>
        </p:spPr>
        <p:txBody>
          <a:bodyPr wrap="square" rtlCol="0" anchor="ctr"/>
          <a:lstStyle/>
          <a:p>
            <a:pPr indent="0" marL="0">
              <a:buNone/>
            </a:pPr>
            <a:r>
              <a:rPr lang="en-US" sz="800" spc="300" kern="0" dirty="0">
                <a:solidFill>
                  <a:srgbClr val="6B7689"/>
                </a:solidFill>
                <a:latin typeface="Inter" pitchFamily="34" charset="0"/>
                <a:ea typeface="Inter" pitchFamily="34" charset="-122"/>
                <a:cs typeface="Inter" pitchFamily="34" charset="-120"/>
              </a:rPr>
              <a:t>EON AI VENTURES · FIELD IQ · VISION TO REALIZATION · DAC #811 LOTO · 2 / 12</a:t>
            </a:r>
            <a:endParaRPr lang="en-US" sz="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57200" y="320040"/>
            <a:ext cx="11247120" cy="274320"/>
          </a:xfrm>
          <a:prstGeom prst="rect">
            <a:avLst/>
          </a:prstGeom>
          <a:noFill/>
          <a:ln/>
        </p:spPr>
        <p:txBody>
          <a:bodyPr wrap="square" rtlCol="0" anchor="ctr"/>
          <a:lstStyle/>
          <a:p>
            <a:pPr indent="0" marL="0">
              <a:buNone/>
            </a:pPr>
            <a:r>
              <a:rPr lang="en-US" sz="1000" b="1" spc="400" kern="0" dirty="0">
                <a:solidFill>
                  <a:srgbClr val="E07B47"/>
                </a:solidFill>
                <a:latin typeface="Inter" pitchFamily="34" charset="0"/>
                <a:ea typeface="Inter" pitchFamily="34" charset="-122"/>
                <a:cs typeface="Inter" pitchFamily="34" charset="-120"/>
              </a:rPr>
              <a:t>STEP 1 OF 10 · DON PPE</a:t>
            </a:r>
            <a:endParaRPr lang="en-US" sz="1000" dirty="0"/>
          </a:p>
        </p:txBody>
      </p:sp>
      <p:sp>
        <p:nvSpPr>
          <p:cNvPr id="3" name="Text 1"/>
          <p:cNvSpPr/>
          <p:nvPr/>
        </p:nvSpPr>
        <p:spPr>
          <a:xfrm>
            <a:off x="457200" y="640080"/>
            <a:ext cx="11247120" cy="594360"/>
          </a:xfrm>
          <a:prstGeom prst="rect">
            <a:avLst/>
          </a:prstGeom>
          <a:noFill/>
          <a:ln/>
        </p:spPr>
        <p:txBody>
          <a:bodyPr wrap="square" rtlCol="0" anchor="ctr"/>
          <a:lstStyle/>
          <a:p>
            <a:pPr indent="0" marL="0">
              <a:buNone/>
            </a:pPr>
            <a:r>
              <a:rPr lang="en-US" sz="2600" b="1" dirty="0">
                <a:solidFill>
                  <a:srgbClr val="F5F1E8"/>
                </a:solidFill>
                <a:latin typeface="Inter" pitchFamily="34" charset="0"/>
                <a:ea typeface="Inter" pitchFamily="34" charset="-122"/>
                <a:cs typeface="Inter" pitchFamily="34" charset="-120"/>
              </a:rPr>
              <a:t>Step 1 — Don PPE</a:t>
            </a:r>
            <a:endParaRPr lang="en-US" sz="2600" dirty="0"/>
          </a:p>
        </p:txBody>
      </p:sp>
      <p:sp>
        <p:nvSpPr>
          <p:cNvPr id="4" name="Text 2"/>
          <p:cNvSpPr/>
          <p:nvPr/>
        </p:nvSpPr>
        <p:spPr>
          <a:xfrm>
            <a:off x="7772400" y="320040"/>
            <a:ext cx="3931920" cy="274320"/>
          </a:xfrm>
          <a:prstGeom prst="rect">
            <a:avLst/>
          </a:prstGeom>
          <a:noFill/>
          <a:ln/>
        </p:spPr>
        <p:txBody>
          <a:bodyPr wrap="square" rtlCol="0" anchor="ctr"/>
          <a:lstStyle/>
          <a:p>
            <a:pPr algn="r" indent="0" marL="0">
              <a:buNone/>
            </a:pPr>
            <a:r>
              <a:rPr lang="en-US" sz="900" spc="300" kern="0" dirty="0">
                <a:solidFill>
                  <a:srgbClr val="6B7689"/>
                </a:solidFill>
                <a:latin typeface="Inter" pitchFamily="34" charset="0"/>
                <a:ea typeface="Inter" pitchFamily="34" charset="-122"/>
                <a:cs typeface="Inter" pitchFamily="34" charset="-120"/>
              </a:rPr>
              <a:t>DAC #811 LOTO · OSHA 29 CFR 1910.147</a:t>
            </a:r>
            <a:endParaRPr lang="en-US" sz="900" dirty="0"/>
          </a:p>
        </p:txBody>
      </p:sp>
      <p:sp>
        <p:nvSpPr>
          <p:cNvPr id="5" name="Shape 3"/>
          <p:cNvSpPr/>
          <p:nvPr/>
        </p:nvSpPr>
        <p:spPr>
          <a:xfrm>
            <a:off x="457200" y="1417320"/>
            <a:ext cx="11247120" cy="1417320"/>
          </a:xfrm>
          <a:prstGeom prst="roundRect">
            <a:avLst>
              <a:gd name="adj" fmla="val 6452"/>
            </a:avLst>
          </a:prstGeom>
          <a:solidFill>
            <a:srgbClr val="152033"/>
          </a:solidFill>
          <a:ln w="9525">
            <a:solidFill>
              <a:srgbClr val="2C3853"/>
            </a:solidFill>
            <a:prstDash val="solid"/>
          </a:ln>
        </p:spPr>
      </p:sp>
      <p:sp>
        <p:nvSpPr>
          <p:cNvPr id="6" name="Shape 4"/>
          <p:cNvSpPr/>
          <p:nvPr/>
        </p:nvSpPr>
        <p:spPr>
          <a:xfrm>
            <a:off x="457200" y="1417320"/>
            <a:ext cx="91440" cy="1417320"/>
          </a:xfrm>
          <a:prstGeom prst="rect">
            <a:avLst/>
          </a:prstGeom>
          <a:solidFill>
            <a:srgbClr val="A6AFC2"/>
          </a:solidFill>
          <a:ln w="12700">
            <a:solidFill>
              <a:srgbClr val="A6AFC2"/>
            </a:solidFill>
            <a:prstDash val="solid"/>
          </a:ln>
        </p:spPr>
      </p:sp>
      <p:sp>
        <p:nvSpPr>
          <p:cNvPr id="7" name="Text 5"/>
          <p:cNvSpPr/>
          <p:nvPr/>
        </p:nvSpPr>
        <p:spPr>
          <a:xfrm>
            <a:off x="685800" y="1554480"/>
            <a:ext cx="1645920" cy="274320"/>
          </a:xfrm>
          <a:prstGeom prst="rect">
            <a:avLst/>
          </a:prstGeom>
          <a:noFill/>
          <a:ln/>
        </p:spPr>
        <p:txBody>
          <a:bodyPr wrap="square" rtlCol="0" anchor="t"/>
          <a:lstStyle/>
          <a:p>
            <a:pPr indent="0" marL="0">
              <a:buNone/>
            </a:pPr>
            <a:r>
              <a:rPr lang="en-US" sz="1000" b="1" spc="300" kern="0" dirty="0">
                <a:solidFill>
                  <a:srgbClr val="A6AFC2"/>
                </a:solidFill>
                <a:latin typeface="Inter" pitchFamily="34" charset="0"/>
                <a:ea typeface="Inter" pitchFamily="34" charset="-122"/>
                <a:cs typeface="Inter" pitchFamily="34" charset="-120"/>
              </a:rPr>
              <a:t>VISION</a:t>
            </a:r>
            <a:endParaRPr lang="en-US" sz="1000" dirty="0"/>
          </a:p>
        </p:txBody>
      </p:sp>
      <p:sp>
        <p:nvSpPr>
          <p:cNvPr id="8" name="Text 6"/>
          <p:cNvSpPr/>
          <p:nvPr/>
        </p:nvSpPr>
        <p:spPr>
          <a:xfrm>
            <a:off x="2377440" y="1536192"/>
            <a:ext cx="9052560" cy="1188720"/>
          </a:xfrm>
          <a:prstGeom prst="rect">
            <a:avLst/>
          </a:prstGeom>
          <a:noFill/>
          <a:ln/>
        </p:spPr>
        <p:txBody>
          <a:bodyPr wrap="square" rtlCol="0" anchor="t"/>
          <a:lstStyle/>
          <a:p>
            <a:pPr indent="0" marL="0">
              <a:buNone/>
            </a:pPr>
            <a:r>
              <a:rPr lang="en-US" sz="1150" dirty="0">
                <a:solidFill>
                  <a:srgbClr val="F5F1E8"/>
                </a:solidFill>
                <a:latin typeface="Inter" pitchFamily="34" charset="0"/>
                <a:ea typeface="Inter" pitchFamily="34" charset="-122"/>
                <a:cs typeface="Inter" pitchFamily="34" charset="-120"/>
              </a:rPr>
              <a:t>Maya picks up the glasses + Neural Band, puts them on, opens the Field IQ Web App. HUD: "DON PPE — Put on safety glasses and gloves. Take a selfie-style photo of your face and hands." She gloves up, says "Hey Meta, take a photo," and the photo is captured.</a:t>
            </a:r>
            <a:endParaRPr lang="en-US" sz="1150" dirty="0"/>
          </a:p>
        </p:txBody>
      </p:sp>
      <p:sp>
        <p:nvSpPr>
          <p:cNvPr id="9" name="Shape 7"/>
          <p:cNvSpPr/>
          <p:nvPr/>
        </p:nvSpPr>
        <p:spPr>
          <a:xfrm>
            <a:off x="457200" y="2907792"/>
            <a:ext cx="11247120" cy="2103120"/>
          </a:xfrm>
          <a:prstGeom prst="roundRect">
            <a:avLst>
              <a:gd name="adj" fmla="val 4348"/>
            </a:avLst>
          </a:prstGeom>
          <a:solidFill>
            <a:srgbClr val="152033"/>
          </a:solidFill>
          <a:ln w="9525">
            <a:solidFill>
              <a:srgbClr val="2C3853"/>
            </a:solidFill>
            <a:prstDash val="solid"/>
          </a:ln>
        </p:spPr>
      </p:sp>
      <p:sp>
        <p:nvSpPr>
          <p:cNvPr id="10" name="Shape 8"/>
          <p:cNvSpPr/>
          <p:nvPr/>
        </p:nvSpPr>
        <p:spPr>
          <a:xfrm>
            <a:off x="457200" y="2907792"/>
            <a:ext cx="91440" cy="2103120"/>
          </a:xfrm>
          <a:prstGeom prst="rect">
            <a:avLst/>
          </a:prstGeom>
          <a:solidFill>
            <a:srgbClr val="E07B47"/>
          </a:solidFill>
          <a:ln w="12700">
            <a:solidFill>
              <a:srgbClr val="E07B47"/>
            </a:solidFill>
            <a:prstDash val="solid"/>
          </a:ln>
        </p:spPr>
      </p:sp>
      <p:sp>
        <p:nvSpPr>
          <p:cNvPr id="11" name="Text 9"/>
          <p:cNvSpPr/>
          <p:nvPr/>
        </p:nvSpPr>
        <p:spPr>
          <a:xfrm>
            <a:off x="685800" y="3044952"/>
            <a:ext cx="1645920" cy="274320"/>
          </a:xfrm>
          <a:prstGeom prst="rect">
            <a:avLst/>
          </a:prstGeom>
          <a:noFill/>
          <a:ln/>
        </p:spPr>
        <p:txBody>
          <a:bodyPr wrap="square" rtlCol="0" anchor="t"/>
          <a:lstStyle/>
          <a:p>
            <a:pPr indent="0" marL="0">
              <a:buNone/>
            </a:pPr>
            <a:r>
              <a:rPr lang="en-US" sz="1000" b="1" spc="300" kern="0" dirty="0">
                <a:solidFill>
                  <a:srgbClr val="E07B47"/>
                </a:solidFill>
                <a:latin typeface="Inter" pitchFamily="34" charset="0"/>
                <a:ea typeface="Inter" pitchFamily="34" charset="-122"/>
                <a:cs typeface="Inter" pitchFamily="34" charset="-120"/>
              </a:rPr>
              <a:t>REALIZATION</a:t>
            </a:r>
            <a:endParaRPr lang="en-US" sz="1000" dirty="0"/>
          </a:p>
        </p:txBody>
      </p:sp>
      <p:sp>
        <p:nvSpPr>
          <p:cNvPr id="12" name="Text 10"/>
          <p:cNvSpPr/>
          <p:nvPr/>
        </p:nvSpPr>
        <p:spPr>
          <a:xfrm>
            <a:off x="2377440" y="3026664"/>
            <a:ext cx="9052560" cy="329184"/>
          </a:xfrm>
          <a:prstGeom prst="rect">
            <a:avLst/>
          </a:prstGeom>
          <a:noFill/>
          <a:ln/>
        </p:spPr>
        <p:txBody>
          <a:bodyPr wrap="square" rtlCol="0" anchor="t"/>
          <a:lstStyle/>
          <a:p>
            <a:pPr indent="0" marL="0">
              <a:buNone/>
            </a:pPr>
            <a:r>
              <a:rPr lang="en-US" sz="1100" dirty="0">
                <a:solidFill>
                  <a:srgbClr val="F5F1E8"/>
                </a:solidFill>
                <a:latin typeface="Inter" pitchFamily="34" charset="0"/>
                <a:ea typeface="Inter" pitchFamily="34" charset="-122"/>
                <a:cs typeface="Inter" pitchFamily="34" charset="-120"/>
              </a:rPr>
              <a:t>GLASSES Web App renders Step 1 HUD card (title, instruction, reference thumbnail) on the 600×600 monocular display.</a:t>
            </a:r>
            <a:endParaRPr lang="en-US" sz="1100" dirty="0"/>
          </a:p>
        </p:txBody>
      </p:sp>
      <p:sp>
        <p:nvSpPr>
          <p:cNvPr id="13" name="Text 11"/>
          <p:cNvSpPr/>
          <p:nvPr/>
        </p:nvSpPr>
        <p:spPr>
          <a:xfrm>
            <a:off x="2377440" y="3374136"/>
            <a:ext cx="9052560" cy="329184"/>
          </a:xfrm>
          <a:prstGeom prst="rect">
            <a:avLst/>
          </a:prstGeom>
          <a:noFill/>
          <a:ln/>
        </p:spPr>
        <p:txBody>
          <a:bodyPr wrap="square" rtlCol="0" anchor="t"/>
          <a:lstStyle/>
          <a:p>
            <a:pPr indent="0" marL="0">
              <a:buNone/>
            </a:pPr>
            <a:r>
              <a:rPr lang="en-US" sz="1100" dirty="0">
                <a:solidFill>
                  <a:srgbClr val="F5F1E8"/>
                </a:solidFill>
                <a:latin typeface="Inter" pitchFamily="34" charset="0"/>
                <a:ea typeface="Inter" pitchFamily="34" charset="-122"/>
                <a:cs typeface="Inter" pitchFamily="34" charset="-120"/>
              </a:rPr>
              <a:t>VOICE "Hey Meta, take a photo" — Meta's native AI wake command. We rely on it because the SDK doesn't expose custom wake words yet.</a:t>
            </a:r>
            <a:endParaRPr lang="en-US" sz="1100" dirty="0"/>
          </a:p>
        </p:txBody>
      </p:sp>
      <p:sp>
        <p:nvSpPr>
          <p:cNvPr id="14" name="Text 12"/>
          <p:cNvSpPr/>
          <p:nvPr/>
        </p:nvSpPr>
        <p:spPr>
          <a:xfrm>
            <a:off x="2377440" y="3721608"/>
            <a:ext cx="9052560" cy="329184"/>
          </a:xfrm>
          <a:prstGeom prst="rect">
            <a:avLst/>
          </a:prstGeom>
          <a:noFill/>
          <a:ln/>
        </p:spPr>
        <p:txBody>
          <a:bodyPr wrap="square" rtlCol="0" anchor="t"/>
          <a:lstStyle/>
          <a:p>
            <a:pPr indent="0" marL="0">
              <a:buNone/>
            </a:pPr>
            <a:r>
              <a:rPr lang="en-US" sz="1100" dirty="0">
                <a:solidFill>
                  <a:srgbClr val="F5F1E8"/>
                </a:solidFill>
                <a:latin typeface="Inter" pitchFamily="34" charset="0"/>
                <a:ea typeface="Inter" pitchFamily="34" charset="-122"/>
                <a:cs typeface="Inter" pitchFamily="34" charset="-120"/>
              </a:rPr>
              <a:t>PHONE companion app (RN, iOS + Android) receives the photo via DAT SDK over BLE (~80ms). POST /api/sessions/:id/verify with photo + step_id.</a:t>
            </a:r>
            <a:endParaRPr lang="en-US" sz="1100" dirty="0"/>
          </a:p>
        </p:txBody>
      </p:sp>
      <p:sp>
        <p:nvSpPr>
          <p:cNvPr id="15" name="Text 13"/>
          <p:cNvSpPr/>
          <p:nvPr/>
        </p:nvSpPr>
        <p:spPr>
          <a:xfrm>
            <a:off x="2377440" y="4069080"/>
            <a:ext cx="9052560" cy="329184"/>
          </a:xfrm>
          <a:prstGeom prst="rect">
            <a:avLst/>
          </a:prstGeom>
          <a:noFill/>
          <a:ln/>
        </p:spPr>
        <p:txBody>
          <a:bodyPr wrap="square" rtlCol="0" anchor="t"/>
          <a:lstStyle/>
          <a:p>
            <a:pPr indent="0" marL="0">
              <a:buNone/>
            </a:pPr>
            <a:r>
              <a:rPr lang="en-US" sz="1100" dirty="0">
                <a:solidFill>
                  <a:srgbClr val="F5F1E8"/>
                </a:solidFill>
                <a:latin typeface="Inter" pitchFamily="34" charset="0"/>
                <a:ea typeface="Inter" pitchFamily="34" charset="-122"/>
                <a:cs typeface="Inter" pitchFamily="34" charset="-120"/>
              </a:rPr>
              <a:t>BACKEND uploads to S3, enqueues verification job. Python worker calls Anthropic Messages API with Claude Sonnet 4.6, the photo, and the step's verification prompt.</a:t>
            </a:r>
            <a:endParaRPr lang="en-US" sz="1100" dirty="0"/>
          </a:p>
        </p:txBody>
      </p:sp>
      <p:sp>
        <p:nvSpPr>
          <p:cNvPr id="16" name="Text 14"/>
          <p:cNvSpPr/>
          <p:nvPr/>
        </p:nvSpPr>
        <p:spPr>
          <a:xfrm>
            <a:off x="2377440" y="4416552"/>
            <a:ext cx="9052560" cy="329184"/>
          </a:xfrm>
          <a:prstGeom prst="rect">
            <a:avLst/>
          </a:prstGeom>
          <a:noFill/>
          <a:ln/>
        </p:spPr>
        <p:txBody>
          <a:bodyPr wrap="square" rtlCol="0" anchor="t"/>
          <a:lstStyle/>
          <a:p>
            <a:pPr indent="0" marL="0">
              <a:buNone/>
            </a:pPr>
            <a:r>
              <a:rPr lang="en-US" sz="1100" dirty="0">
                <a:solidFill>
                  <a:srgbClr val="F5F1E8"/>
                </a:solidFill>
                <a:latin typeface="Inter" pitchFamily="34" charset="0"/>
                <a:ea typeface="Inter" pitchFamily="34" charset="-122"/>
                <a:cs typeface="Inter" pitchFamily="34" charset="-120"/>
              </a:rPr>
              <a:t>VERDICT returned in 3-5s: {verified: true, confidence: 0.92, message: "Gloves and safety glasses visible."} broadcast over WebSocket. HUD turns green: "Step 1 verified."</a:t>
            </a:r>
            <a:endParaRPr lang="en-US" sz="1100" dirty="0"/>
          </a:p>
        </p:txBody>
      </p:sp>
      <p:sp>
        <p:nvSpPr>
          <p:cNvPr id="17" name="Shape 15"/>
          <p:cNvSpPr/>
          <p:nvPr/>
        </p:nvSpPr>
        <p:spPr>
          <a:xfrm>
            <a:off x="457200" y="5084064"/>
            <a:ext cx="11247120" cy="1417320"/>
          </a:xfrm>
          <a:prstGeom prst="roundRect">
            <a:avLst>
              <a:gd name="adj" fmla="val 6452"/>
            </a:avLst>
          </a:prstGeom>
          <a:solidFill>
            <a:srgbClr val="152033"/>
          </a:solidFill>
          <a:ln w="9525">
            <a:solidFill>
              <a:srgbClr val="2C3853"/>
            </a:solidFill>
            <a:prstDash val="solid"/>
          </a:ln>
        </p:spPr>
      </p:sp>
      <p:sp>
        <p:nvSpPr>
          <p:cNvPr id="18" name="Shape 16"/>
          <p:cNvSpPr/>
          <p:nvPr/>
        </p:nvSpPr>
        <p:spPr>
          <a:xfrm>
            <a:off x="457200" y="5084064"/>
            <a:ext cx="91440" cy="1417320"/>
          </a:xfrm>
          <a:prstGeom prst="rect">
            <a:avLst/>
          </a:prstGeom>
          <a:solidFill>
            <a:srgbClr val="10B981"/>
          </a:solidFill>
          <a:ln w="12700">
            <a:solidFill>
              <a:srgbClr val="10B981"/>
            </a:solidFill>
            <a:prstDash val="solid"/>
          </a:ln>
        </p:spPr>
      </p:sp>
      <p:sp>
        <p:nvSpPr>
          <p:cNvPr id="19" name="Text 17"/>
          <p:cNvSpPr/>
          <p:nvPr/>
        </p:nvSpPr>
        <p:spPr>
          <a:xfrm>
            <a:off x="685800" y="5221224"/>
            <a:ext cx="1645920" cy="274320"/>
          </a:xfrm>
          <a:prstGeom prst="rect">
            <a:avLst/>
          </a:prstGeom>
          <a:noFill/>
          <a:ln/>
        </p:spPr>
        <p:txBody>
          <a:bodyPr wrap="square" rtlCol="0" anchor="t"/>
          <a:lstStyle/>
          <a:p>
            <a:pPr indent="0" marL="0">
              <a:buNone/>
            </a:pPr>
            <a:r>
              <a:rPr lang="en-US" sz="1000" b="1" spc="300" kern="0" dirty="0">
                <a:solidFill>
                  <a:srgbClr val="10B981"/>
                </a:solidFill>
                <a:latin typeface="Inter" pitchFamily="34" charset="0"/>
                <a:ea typeface="Inter" pitchFamily="34" charset="-122"/>
                <a:cs typeface="Inter" pitchFamily="34" charset="-120"/>
              </a:rPr>
              <a:t>DISCOVERIES</a:t>
            </a:r>
            <a:endParaRPr lang="en-US" sz="1000" dirty="0"/>
          </a:p>
        </p:txBody>
      </p:sp>
      <p:sp>
        <p:nvSpPr>
          <p:cNvPr id="20" name="Text 18"/>
          <p:cNvSpPr/>
          <p:nvPr/>
        </p:nvSpPr>
        <p:spPr>
          <a:xfrm>
            <a:off x="2377440" y="5202936"/>
            <a:ext cx="9052560" cy="329184"/>
          </a:xfrm>
          <a:prstGeom prst="rect">
            <a:avLst/>
          </a:prstGeom>
          <a:noFill/>
          <a:ln/>
        </p:spPr>
        <p:txBody>
          <a:bodyPr wrap="square" rtlCol="0" anchor="t"/>
          <a:lstStyle/>
          <a:p>
            <a:pPr indent="0" marL="0">
              <a:buNone/>
            </a:pPr>
            <a:r>
              <a:rPr lang="en-US" sz="1100" dirty="0">
                <a:solidFill>
                  <a:srgbClr val="F5F1E8"/>
                </a:solidFill>
                <a:latin typeface="Inter" pitchFamily="34" charset="0"/>
                <a:ea typeface="Inter" pitchFamily="34" charset="-122"/>
                <a:cs typeface="Inter" pitchFamily="34" charset="-120"/>
              </a:rPr>
              <a:t>Display recording (Update 125) captures Maya's HUD overlay alongside the POV photo. Audit packs become richer than originally scoped.</a:t>
            </a:r>
            <a:endParaRPr lang="en-US" sz="1100" dirty="0"/>
          </a:p>
        </p:txBody>
      </p:sp>
      <p:sp>
        <p:nvSpPr>
          <p:cNvPr id="21" name="Text 19"/>
          <p:cNvSpPr/>
          <p:nvPr/>
        </p:nvSpPr>
        <p:spPr>
          <a:xfrm>
            <a:off x="2377440" y="5550408"/>
            <a:ext cx="9052560" cy="329184"/>
          </a:xfrm>
          <a:prstGeom prst="rect">
            <a:avLst/>
          </a:prstGeom>
          <a:noFill/>
          <a:ln/>
        </p:spPr>
        <p:txBody>
          <a:bodyPr wrap="square" rtlCol="0" anchor="t"/>
          <a:lstStyle/>
          <a:p>
            <a:pPr indent="0" marL="0">
              <a:buNone/>
            </a:pPr>
            <a:r>
              <a:rPr lang="en-US" sz="1100" dirty="0">
                <a:solidFill>
                  <a:srgbClr val="F5F1E8"/>
                </a:solidFill>
                <a:latin typeface="Inter" pitchFamily="34" charset="0"/>
                <a:ea typeface="Inter" pitchFamily="34" charset="-122"/>
                <a:cs typeface="Inter" pitchFamily="34" charset="-120"/>
              </a:rPr>
              <a:t>Open-ear speaker captions (Update 125) enable accessibility for deaf/HoH workers — they read the step instead of hearing it.</a:t>
            </a:r>
            <a:endParaRPr lang="en-US" sz="1100" dirty="0"/>
          </a:p>
        </p:txBody>
      </p:sp>
      <p:sp>
        <p:nvSpPr>
          <p:cNvPr id="22" name="Text 20"/>
          <p:cNvSpPr/>
          <p:nvPr/>
        </p:nvSpPr>
        <p:spPr>
          <a:xfrm>
            <a:off x="457200" y="6565392"/>
            <a:ext cx="11247120" cy="228600"/>
          </a:xfrm>
          <a:prstGeom prst="rect">
            <a:avLst/>
          </a:prstGeom>
          <a:noFill/>
          <a:ln/>
        </p:spPr>
        <p:txBody>
          <a:bodyPr wrap="square" rtlCol="0" anchor="ctr"/>
          <a:lstStyle/>
          <a:p>
            <a:pPr indent="0" marL="0">
              <a:buNone/>
            </a:pPr>
            <a:r>
              <a:rPr lang="en-US" sz="800" spc="300" kern="0" dirty="0">
                <a:solidFill>
                  <a:srgbClr val="6B7689"/>
                </a:solidFill>
                <a:latin typeface="Inter" pitchFamily="34" charset="0"/>
                <a:ea typeface="Inter" pitchFamily="34" charset="-122"/>
                <a:cs typeface="Inter" pitchFamily="34" charset="-120"/>
              </a:rPr>
              <a:t>EON AI VENTURES · FIELD IQ · VISION TO REALIZATION · DAC #811 LOTO · 3 / 12</a:t>
            </a:r>
            <a:endParaRPr lang="en-US" sz="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457200" y="320040"/>
            <a:ext cx="11247120" cy="274320"/>
          </a:xfrm>
          <a:prstGeom prst="rect">
            <a:avLst/>
          </a:prstGeom>
          <a:noFill/>
          <a:ln/>
        </p:spPr>
        <p:txBody>
          <a:bodyPr wrap="square" rtlCol="0" anchor="ctr"/>
          <a:lstStyle/>
          <a:p>
            <a:pPr indent="0" marL="0">
              <a:buNone/>
            </a:pPr>
            <a:r>
              <a:rPr lang="en-US" sz="1000" b="1" spc="400" kern="0" dirty="0">
                <a:solidFill>
                  <a:srgbClr val="E07B47"/>
                </a:solidFill>
                <a:latin typeface="Inter" pitchFamily="34" charset="0"/>
                <a:ea typeface="Inter" pitchFamily="34" charset="-122"/>
                <a:cs typeface="Inter" pitchFamily="34" charset="-120"/>
              </a:rPr>
              <a:t>STEP 2 OF 10 · IDENTIFY EQUIPMENT</a:t>
            </a:r>
            <a:endParaRPr lang="en-US" sz="1000" dirty="0"/>
          </a:p>
        </p:txBody>
      </p:sp>
      <p:sp>
        <p:nvSpPr>
          <p:cNvPr id="3" name="Text 1"/>
          <p:cNvSpPr/>
          <p:nvPr/>
        </p:nvSpPr>
        <p:spPr>
          <a:xfrm>
            <a:off x="457200" y="640080"/>
            <a:ext cx="11247120" cy="594360"/>
          </a:xfrm>
          <a:prstGeom prst="rect">
            <a:avLst/>
          </a:prstGeom>
          <a:noFill/>
          <a:ln/>
        </p:spPr>
        <p:txBody>
          <a:bodyPr wrap="square" rtlCol="0" anchor="ctr"/>
          <a:lstStyle/>
          <a:p>
            <a:pPr indent="0" marL="0">
              <a:buNone/>
            </a:pPr>
            <a:r>
              <a:rPr lang="en-US" sz="2600" b="1" dirty="0">
                <a:solidFill>
                  <a:srgbClr val="F5F1E8"/>
                </a:solidFill>
                <a:latin typeface="Inter" pitchFamily="34" charset="0"/>
                <a:ea typeface="Inter" pitchFamily="34" charset="-122"/>
                <a:cs typeface="Inter" pitchFamily="34" charset="-120"/>
              </a:rPr>
              <a:t>Step 2 — Identify Equipment (QR scan)</a:t>
            </a:r>
            <a:endParaRPr lang="en-US" sz="2600" dirty="0"/>
          </a:p>
        </p:txBody>
      </p:sp>
      <p:sp>
        <p:nvSpPr>
          <p:cNvPr id="4" name="Text 2"/>
          <p:cNvSpPr/>
          <p:nvPr/>
        </p:nvSpPr>
        <p:spPr>
          <a:xfrm>
            <a:off x="7772400" y="320040"/>
            <a:ext cx="3931920" cy="274320"/>
          </a:xfrm>
          <a:prstGeom prst="rect">
            <a:avLst/>
          </a:prstGeom>
          <a:noFill/>
          <a:ln/>
        </p:spPr>
        <p:txBody>
          <a:bodyPr wrap="square" rtlCol="0" anchor="ctr"/>
          <a:lstStyle/>
          <a:p>
            <a:pPr algn="r" indent="0" marL="0">
              <a:buNone/>
            </a:pPr>
            <a:r>
              <a:rPr lang="en-US" sz="900" spc="300" kern="0" dirty="0">
                <a:solidFill>
                  <a:srgbClr val="6B7689"/>
                </a:solidFill>
                <a:latin typeface="Inter" pitchFamily="34" charset="0"/>
                <a:ea typeface="Inter" pitchFamily="34" charset="-122"/>
                <a:cs typeface="Inter" pitchFamily="34" charset="-120"/>
              </a:rPr>
              <a:t>DAC #811 LOTO · OSHA 29 CFR 1910.147</a:t>
            </a:r>
            <a:endParaRPr lang="en-US" sz="900" dirty="0"/>
          </a:p>
        </p:txBody>
      </p:sp>
      <p:sp>
        <p:nvSpPr>
          <p:cNvPr id="5" name="Shape 3"/>
          <p:cNvSpPr/>
          <p:nvPr/>
        </p:nvSpPr>
        <p:spPr>
          <a:xfrm>
            <a:off x="457200" y="1417320"/>
            <a:ext cx="11247120" cy="1417320"/>
          </a:xfrm>
          <a:prstGeom prst="roundRect">
            <a:avLst>
              <a:gd name="adj" fmla="val 6452"/>
            </a:avLst>
          </a:prstGeom>
          <a:solidFill>
            <a:srgbClr val="152033"/>
          </a:solidFill>
          <a:ln w="9525">
            <a:solidFill>
              <a:srgbClr val="2C3853"/>
            </a:solidFill>
            <a:prstDash val="solid"/>
          </a:ln>
        </p:spPr>
      </p:sp>
      <p:sp>
        <p:nvSpPr>
          <p:cNvPr id="6" name="Shape 4"/>
          <p:cNvSpPr/>
          <p:nvPr/>
        </p:nvSpPr>
        <p:spPr>
          <a:xfrm>
            <a:off x="457200" y="1417320"/>
            <a:ext cx="91440" cy="1417320"/>
          </a:xfrm>
          <a:prstGeom prst="rect">
            <a:avLst/>
          </a:prstGeom>
          <a:solidFill>
            <a:srgbClr val="A6AFC2"/>
          </a:solidFill>
          <a:ln w="12700">
            <a:solidFill>
              <a:srgbClr val="A6AFC2"/>
            </a:solidFill>
            <a:prstDash val="solid"/>
          </a:ln>
        </p:spPr>
      </p:sp>
      <p:sp>
        <p:nvSpPr>
          <p:cNvPr id="7" name="Text 5"/>
          <p:cNvSpPr/>
          <p:nvPr/>
        </p:nvSpPr>
        <p:spPr>
          <a:xfrm>
            <a:off x="685800" y="1554480"/>
            <a:ext cx="1645920" cy="274320"/>
          </a:xfrm>
          <a:prstGeom prst="rect">
            <a:avLst/>
          </a:prstGeom>
          <a:noFill/>
          <a:ln/>
        </p:spPr>
        <p:txBody>
          <a:bodyPr wrap="square" rtlCol="0" anchor="t"/>
          <a:lstStyle/>
          <a:p>
            <a:pPr indent="0" marL="0">
              <a:buNone/>
            </a:pPr>
            <a:r>
              <a:rPr lang="en-US" sz="1000" b="1" spc="300" kern="0" dirty="0">
                <a:solidFill>
                  <a:srgbClr val="A6AFC2"/>
                </a:solidFill>
                <a:latin typeface="Inter" pitchFamily="34" charset="0"/>
                <a:ea typeface="Inter" pitchFamily="34" charset="-122"/>
                <a:cs typeface="Inter" pitchFamily="34" charset="-120"/>
              </a:rPr>
              <a:t>VISION</a:t>
            </a:r>
            <a:endParaRPr lang="en-US" sz="1000" dirty="0"/>
          </a:p>
        </p:txBody>
      </p:sp>
      <p:sp>
        <p:nvSpPr>
          <p:cNvPr id="8" name="Text 6"/>
          <p:cNvSpPr/>
          <p:nvPr/>
        </p:nvSpPr>
        <p:spPr>
          <a:xfrm>
            <a:off x="2377440" y="1536192"/>
            <a:ext cx="9052560" cy="1188720"/>
          </a:xfrm>
          <a:prstGeom prst="rect">
            <a:avLst/>
          </a:prstGeom>
          <a:noFill/>
          <a:ln/>
        </p:spPr>
        <p:txBody>
          <a:bodyPr wrap="square" rtlCol="0" anchor="t"/>
          <a:lstStyle/>
          <a:p>
            <a:pPr indent="0" marL="0">
              <a:buNone/>
            </a:pPr>
            <a:r>
              <a:rPr lang="en-US" sz="1150" dirty="0">
                <a:solidFill>
                  <a:srgbClr val="F5F1E8"/>
                </a:solidFill>
                <a:latin typeface="Inter" pitchFamily="34" charset="0"/>
                <a:ea typeface="Inter" pitchFamily="34" charset="-122"/>
                <a:cs typeface="Inter" pitchFamily="34" charset="-120"/>
              </a:rPr>
              <a:t>Maya looks at the DAC #811 trainer in front of her. A printed QR code is on the stainless-steel baseplate. HUD: "IDENTIFY EQUIPMENT — Scan the QR code on the trainer baseplate." She frames it, captures, and the system identifies the asset as DAC-811-01 in EON Training Bay 1.</a:t>
            </a:r>
            <a:endParaRPr lang="en-US" sz="1150" dirty="0"/>
          </a:p>
        </p:txBody>
      </p:sp>
      <p:sp>
        <p:nvSpPr>
          <p:cNvPr id="9" name="Shape 7"/>
          <p:cNvSpPr/>
          <p:nvPr/>
        </p:nvSpPr>
        <p:spPr>
          <a:xfrm>
            <a:off x="457200" y="2907792"/>
            <a:ext cx="11247120" cy="2103120"/>
          </a:xfrm>
          <a:prstGeom prst="roundRect">
            <a:avLst>
              <a:gd name="adj" fmla="val 4348"/>
            </a:avLst>
          </a:prstGeom>
          <a:solidFill>
            <a:srgbClr val="152033"/>
          </a:solidFill>
          <a:ln w="9525">
            <a:solidFill>
              <a:srgbClr val="2C3853"/>
            </a:solidFill>
            <a:prstDash val="solid"/>
          </a:ln>
        </p:spPr>
      </p:sp>
      <p:sp>
        <p:nvSpPr>
          <p:cNvPr id="10" name="Shape 8"/>
          <p:cNvSpPr/>
          <p:nvPr/>
        </p:nvSpPr>
        <p:spPr>
          <a:xfrm>
            <a:off x="457200" y="2907792"/>
            <a:ext cx="91440" cy="2103120"/>
          </a:xfrm>
          <a:prstGeom prst="rect">
            <a:avLst/>
          </a:prstGeom>
          <a:solidFill>
            <a:srgbClr val="E07B47"/>
          </a:solidFill>
          <a:ln w="12700">
            <a:solidFill>
              <a:srgbClr val="E07B47"/>
            </a:solidFill>
            <a:prstDash val="solid"/>
          </a:ln>
        </p:spPr>
      </p:sp>
      <p:sp>
        <p:nvSpPr>
          <p:cNvPr id="11" name="Text 9"/>
          <p:cNvSpPr/>
          <p:nvPr/>
        </p:nvSpPr>
        <p:spPr>
          <a:xfrm>
            <a:off x="685800" y="3044952"/>
            <a:ext cx="1645920" cy="274320"/>
          </a:xfrm>
          <a:prstGeom prst="rect">
            <a:avLst/>
          </a:prstGeom>
          <a:noFill/>
          <a:ln/>
        </p:spPr>
        <p:txBody>
          <a:bodyPr wrap="square" rtlCol="0" anchor="t"/>
          <a:lstStyle/>
          <a:p>
            <a:pPr indent="0" marL="0">
              <a:buNone/>
            </a:pPr>
            <a:r>
              <a:rPr lang="en-US" sz="1000" b="1" spc="300" kern="0" dirty="0">
                <a:solidFill>
                  <a:srgbClr val="E07B47"/>
                </a:solidFill>
                <a:latin typeface="Inter" pitchFamily="34" charset="0"/>
                <a:ea typeface="Inter" pitchFamily="34" charset="-122"/>
                <a:cs typeface="Inter" pitchFamily="34" charset="-120"/>
              </a:rPr>
              <a:t>REALIZATION</a:t>
            </a:r>
            <a:endParaRPr lang="en-US" sz="1000" dirty="0"/>
          </a:p>
        </p:txBody>
      </p:sp>
      <p:sp>
        <p:nvSpPr>
          <p:cNvPr id="12" name="Text 10"/>
          <p:cNvSpPr/>
          <p:nvPr/>
        </p:nvSpPr>
        <p:spPr>
          <a:xfrm>
            <a:off x="2377440" y="3026664"/>
            <a:ext cx="9052560" cy="329184"/>
          </a:xfrm>
          <a:prstGeom prst="rect">
            <a:avLst/>
          </a:prstGeom>
          <a:noFill/>
          <a:ln/>
        </p:spPr>
        <p:txBody>
          <a:bodyPr wrap="square" rtlCol="0" anchor="t"/>
          <a:lstStyle/>
          <a:p>
            <a:pPr indent="0" marL="0">
              <a:buNone/>
            </a:pPr>
            <a:r>
              <a:rPr lang="en-US" sz="1100" dirty="0">
                <a:solidFill>
                  <a:srgbClr val="F5F1E8"/>
                </a:solidFill>
                <a:latin typeface="Inter" pitchFamily="34" charset="0"/>
                <a:ea typeface="Inter" pitchFamily="34" charset="-122"/>
                <a:cs typeface="Inter" pitchFamily="34" charset="-120"/>
              </a:rPr>
              <a:t>PHONE app's RN QR decoder runs client-side on the captured photo. Decoded value EON-LOTO-DAC811-01 → POST /api/equipment/resolve.</a:t>
            </a:r>
            <a:endParaRPr lang="en-US" sz="1100" dirty="0"/>
          </a:p>
        </p:txBody>
      </p:sp>
      <p:sp>
        <p:nvSpPr>
          <p:cNvPr id="13" name="Text 11"/>
          <p:cNvSpPr/>
          <p:nvPr/>
        </p:nvSpPr>
        <p:spPr>
          <a:xfrm>
            <a:off x="2377440" y="3374136"/>
            <a:ext cx="9052560" cy="329184"/>
          </a:xfrm>
          <a:prstGeom prst="rect">
            <a:avLst/>
          </a:prstGeom>
          <a:noFill/>
          <a:ln/>
        </p:spPr>
        <p:txBody>
          <a:bodyPr wrap="square" rtlCol="0" anchor="t"/>
          <a:lstStyle/>
          <a:p>
            <a:pPr indent="0" marL="0">
              <a:buNone/>
            </a:pPr>
            <a:r>
              <a:rPr lang="en-US" sz="1100" dirty="0">
                <a:solidFill>
                  <a:srgbClr val="F5F1E8"/>
                </a:solidFill>
                <a:latin typeface="Inter" pitchFamily="34" charset="0"/>
                <a:ea typeface="Inter" pitchFamily="34" charset="-122"/>
                <a:cs typeface="Inter" pitchFamily="34" charset="-120"/>
              </a:rPr>
              <a:t>BACKEND binds equipment to session (session.equipment_id = eq_dac811_001), pre-fetches all 10 procedure steps into session cache for instant subsequent transitions.</a:t>
            </a:r>
            <a:endParaRPr lang="en-US" sz="1100" dirty="0"/>
          </a:p>
        </p:txBody>
      </p:sp>
      <p:sp>
        <p:nvSpPr>
          <p:cNvPr id="14" name="Text 12"/>
          <p:cNvSpPr/>
          <p:nvPr/>
        </p:nvSpPr>
        <p:spPr>
          <a:xfrm>
            <a:off x="2377440" y="3721608"/>
            <a:ext cx="9052560" cy="329184"/>
          </a:xfrm>
          <a:prstGeom prst="rect">
            <a:avLst/>
          </a:prstGeom>
          <a:noFill/>
          <a:ln/>
        </p:spPr>
        <p:txBody>
          <a:bodyPr wrap="square" rtlCol="0" anchor="t"/>
          <a:lstStyle/>
          <a:p>
            <a:pPr indent="0" marL="0">
              <a:buNone/>
            </a:pPr>
            <a:r>
              <a:rPr lang="en-US" sz="1100" dirty="0">
                <a:solidFill>
                  <a:srgbClr val="F5F1E8"/>
                </a:solidFill>
                <a:latin typeface="Inter" pitchFamily="34" charset="0"/>
                <a:ea typeface="Inter" pitchFamily="34" charset="-122"/>
                <a:cs typeface="Inter" pitchFamily="34" charset="-120"/>
              </a:rPr>
              <a:t>VERIFY Claude still runs on the photo to confirm the QR is mounted on industrial equipment (not held loose).</a:t>
            </a:r>
            <a:endParaRPr lang="en-US" sz="1100" dirty="0"/>
          </a:p>
        </p:txBody>
      </p:sp>
      <p:sp>
        <p:nvSpPr>
          <p:cNvPr id="15" name="Text 13"/>
          <p:cNvSpPr/>
          <p:nvPr/>
        </p:nvSpPr>
        <p:spPr>
          <a:xfrm>
            <a:off x="2377440" y="4069080"/>
            <a:ext cx="9052560" cy="329184"/>
          </a:xfrm>
          <a:prstGeom prst="rect">
            <a:avLst/>
          </a:prstGeom>
          <a:noFill/>
          <a:ln/>
        </p:spPr>
        <p:txBody>
          <a:bodyPr wrap="square" rtlCol="0" anchor="t"/>
          <a:lstStyle/>
          <a:p>
            <a:pPr indent="0" marL="0">
              <a:buNone/>
            </a:pPr>
            <a:r>
              <a:rPr lang="en-US" sz="1100" dirty="0">
                <a:solidFill>
                  <a:srgbClr val="F5F1E8"/>
                </a:solidFill>
                <a:latin typeface="Inter" pitchFamily="34" charset="0"/>
                <a:ea typeface="Inter" pitchFamily="34" charset="-122"/>
                <a:cs typeface="Inter" pitchFamily="34" charset="-120"/>
              </a:rPr>
              <a:t>VERDICT in 3-5s. Step 3 already preloaded; transition is &lt;200ms.</a:t>
            </a:r>
            <a:endParaRPr lang="en-US" sz="1100" dirty="0"/>
          </a:p>
        </p:txBody>
      </p:sp>
      <p:sp>
        <p:nvSpPr>
          <p:cNvPr id="16" name="Shape 14"/>
          <p:cNvSpPr/>
          <p:nvPr/>
        </p:nvSpPr>
        <p:spPr>
          <a:xfrm>
            <a:off x="457200" y="5084064"/>
            <a:ext cx="11247120" cy="1417320"/>
          </a:xfrm>
          <a:prstGeom prst="roundRect">
            <a:avLst>
              <a:gd name="adj" fmla="val 6452"/>
            </a:avLst>
          </a:prstGeom>
          <a:solidFill>
            <a:srgbClr val="152033"/>
          </a:solidFill>
          <a:ln w="9525">
            <a:solidFill>
              <a:srgbClr val="2C3853"/>
            </a:solidFill>
            <a:prstDash val="solid"/>
          </a:ln>
        </p:spPr>
      </p:sp>
      <p:sp>
        <p:nvSpPr>
          <p:cNvPr id="17" name="Shape 15"/>
          <p:cNvSpPr/>
          <p:nvPr/>
        </p:nvSpPr>
        <p:spPr>
          <a:xfrm>
            <a:off x="457200" y="5084064"/>
            <a:ext cx="91440" cy="1417320"/>
          </a:xfrm>
          <a:prstGeom prst="rect">
            <a:avLst/>
          </a:prstGeom>
          <a:solidFill>
            <a:srgbClr val="10B981"/>
          </a:solidFill>
          <a:ln w="12700">
            <a:solidFill>
              <a:srgbClr val="10B981"/>
            </a:solidFill>
            <a:prstDash val="solid"/>
          </a:ln>
        </p:spPr>
      </p:sp>
      <p:sp>
        <p:nvSpPr>
          <p:cNvPr id="18" name="Text 16"/>
          <p:cNvSpPr/>
          <p:nvPr/>
        </p:nvSpPr>
        <p:spPr>
          <a:xfrm>
            <a:off x="685800" y="5221224"/>
            <a:ext cx="1645920" cy="274320"/>
          </a:xfrm>
          <a:prstGeom prst="rect">
            <a:avLst/>
          </a:prstGeom>
          <a:noFill/>
          <a:ln/>
        </p:spPr>
        <p:txBody>
          <a:bodyPr wrap="square" rtlCol="0" anchor="t"/>
          <a:lstStyle/>
          <a:p>
            <a:pPr indent="0" marL="0">
              <a:buNone/>
            </a:pPr>
            <a:r>
              <a:rPr lang="en-US" sz="1000" b="1" spc="300" kern="0" dirty="0">
                <a:solidFill>
                  <a:srgbClr val="10B981"/>
                </a:solidFill>
                <a:latin typeface="Inter" pitchFamily="34" charset="0"/>
                <a:ea typeface="Inter" pitchFamily="34" charset="-122"/>
                <a:cs typeface="Inter" pitchFamily="34" charset="-120"/>
              </a:rPr>
              <a:t>DISCOVERIES</a:t>
            </a:r>
            <a:endParaRPr lang="en-US" sz="1000" dirty="0"/>
          </a:p>
        </p:txBody>
      </p:sp>
      <p:sp>
        <p:nvSpPr>
          <p:cNvPr id="19" name="Text 17"/>
          <p:cNvSpPr/>
          <p:nvPr/>
        </p:nvSpPr>
        <p:spPr>
          <a:xfrm>
            <a:off x="2377440" y="5202936"/>
            <a:ext cx="9052560" cy="329184"/>
          </a:xfrm>
          <a:prstGeom prst="rect">
            <a:avLst/>
          </a:prstGeom>
          <a:noFill/>
          <a:ln/>
        </p:spPr>
        <p:txBody>
          <a:bodyPr wrap="square" rtlCol="0" anchor="t"/>
          <a:lstStyle/>
          <a:p>
            <a:pPr indent="0" marL="0">
              <a:buNone/>
            </a:pPr>
            <a:r>
              <a:rPr lang="en-US" sz="1100" dirty="0">
                <a:solidFill>
                  <a:srgbClr val="F5F1E8"/>
                </a:solidFill>
                <a:latin typeface="Inter" pitchFamily="34" charset="0"/>
                <a:ea typeface="Inter" pitchFamily="34" charset="-122"/>
                <a:cs typeface="Inter" pitchFamily="34" charset="-120"/>
              </a:rPr>
              <a:t>QR step doubles as session initialization — by Claude's response time, the procedure manifest is already cached. Zero added latency for subsequent steps.</a:t>
            </a:r>
            <a:endParaRPr lang="en-US" sz="1100" dirty="0"/>
          </a:p>
        </p:txBody>
      </p:sp>
      <p:sp>
        <p:nvSpPr>
          <p:cNvPr id="20" name="Text 18"/>
          <p:cNvSpPr/>
          <p:nvPr/>
        </p:nvSpPr>
        <p:spPr>
          <a:xfrm>
            <a:off x="2377440" y="5550408"/>
            <a:ext cx="9052560" cy="329184"/>
          </a:xfrm>
          <a:prstGeom prst="rect">
            <a:avLst/>
          </a:prstGeom>
          <a:noFill/>
          <a:ln/>
        </p:spPr>
        <p:txBody>
          <a:bodyPr wrap="square" rtlCol="0" anchor="t"/>
          <a:lstStyle/>
          <a:p>
            <a:pPr indent="0" marL="0">
              <a:buNone/>
            </a:pPr>
            <a:r>
              <a:rPr lang="en-US" sz="1100" dirty="0">
                <a:solidFill>
                  <a:srgbClr val="F5F1E8"/>
                </a:solidFill>
                <a:latin typeface="Inter" pitchFamily="34" charset="0"/>
                <a:ea typeface="Inter" pitchFamily="34" charset="-122"/>
                <a:cs typeface="Inter" pitchFamily="34" charset="-120"/>
              </a:rPr>
              <a:t>Phase 2 candidate: on-glasses CV equipment identification when DAT SDK exposes continuous frames. For v1, QR is the cleanest path.</a:t>
            </a:r>
            <a:endParaRPr lang="en-US" sz="1100" dirty="0"/>
          </a:p>
        </p:txBody>
      </p:sp>
      <p:sp>
        <p:nvSpPr>
          <p:cNvPr id="21" name="Text 19"/>
          <p:cNvSpPr/>
          <p:nvPr/>
        </p:nvSpPr>
        <p:spPr>
          <a:xfrm>
            <a:off x="457200" y="6565392"/>
            <a:ext cx="11247120" cy="228600"/>
          </a:xfrm>
          <a:prstGeom prst="rect">
            <a:avLst/>
          </a:prstGeom>
          <a:noFill/>
          <a:ln/>
        </p:spPr>
        <p:txBody>
          <a:bodyPr wrap="square" rtlCol="0" anchor="ctr"/>
          <a:lstStyle/>
          <a:p>
            <a:pPr indent="0" marL="0">
              <a:buNone/>
            </a:pPr>
            <a:r>
              <a:rPr lang="en-US" sz="800" spc="300" kern="0" dirty="0">
                <a:solidFill>
                  <a:srgbClr val="6B7689"/>
                </a:solidFill>
                <a:latin typeface="Inter" pitchFamily="34" charset="0"/>
                <a:ea typeface="Inter" pitchFamily="34" charset="-122"/>
                <a:cs typeface="Inter" pitchFamily="34" charset="-120"/>
              </a:rPr>
              <a:t>EON AI VENTURES · FIELD IQ · VISION TO REALIZATION · DAC #811 LOTO · 4 / 12</a:t>
            </a:r>
            <a:endParaRPr lang="en-US" sz="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457200" y="320040"/>
            <a:ext cx="11247120" cy="274320"/>
          </a:xfrm>
          <a:prstGeom prst="rect">
            <a:avLst/>
          </a:prstGeom>
          <a:noFill/>
          <a:ln/>
        </p:spPr>
        <p:txBody>
          <a:bodyPr wrap="square" rtlCol="0" anchor="ctr"/>
          <a:lstStyle/>
          <a:p>
            <a:pPr indent="0" marL="0">
              <a:buNone/>
            </a:pPr>
            <a:r>
              <a:rPr lang="en-US" sz="1000" b="1" spc="400" kern="0" dirty="0">
                <a:solidFill>
                  <a:srgbClr val="E07B47"/>
                </a:solidFill>
                <a:latin typeface="Inter" pitchFamily="34" charset="0"/>
                <a:ea typeface="Inter" pitchFamily="34" charset="-122"/>
                <a:cs typeface="Inter" pitchFamily="34" charset="-120"/>
              </a:rPr>
              <a:t>STEP 3 OF 10 · IDENTIFY ENERGY SOURCES</a:t>
            </a:r>
            <a:endParaRPr lang="en-US" sz="1000" dirty="0"/>
          </a:p>
        </p:txBody>
      </p:sp>
      <p:sp>
        <p:nvSpPr>
          <p:cNvPr id="3" name="Text 1"/>
          <p:cNvSpPr/>
          <p:nvPr/>
        </p:nvSpPr>
        <p:spPr>
          <a:xfrm>
            <a:off x="457200" y="640080"/>
            <a:ext cx="11247120" cy="594360"/>
          </a:xfrm>
          <a:prstGeom prst="rect">
            <a:avLst/>
          </a:prstGeom>
          <a:noFill/>
          <a:ln/>
        </p:spPr>
        <p:txBody>
          <a:bodyPr wrap="square" rtlCol="0" anchor="ctr"/>
          <a:lstStyle/>
          <a:p>
            <a:pPr indent="0" marL="0">
              <a:buNone/>
            </a:pPr>
            <a:r>
              <a:rPr lang="en-US" sz="2600" b="1" dirty="0">
                <a:solidFill>
                  <a:srgbClr val="F5F1E8"/>
                </a:solidFill>
                <a:latin typeface="Inter" pitchFamily="34" charset="0"/>
                <a:ea typeface="Inter" pitchFamily="34" charset="-122"/>
                <a:cs typeface="Inter" pitchFamily="34" charset="-120"/>
              </a:rPr>
              <a:t>Step 3 — Identify Energy Sources</a:t>
            </a:r>
            <a:endParaRPr lang="en-US" sz="2600" dirty="0"/>
          </a:p>
        </p:txBody>
      </p:sp>
      <p:sp>
        <p:nvSpPr>
          <p:cNvPr id="4" name="Text 2"/>
          <p:cNvSpPr/>
          <p:nvPr/>
        </p:nvSpPr>
        <p:spPr>
          <a:xfrm>
            <a:off x="7772400" y="320040"/>
            <a:ext cx="3931920" cy="274320"/>
          </a:xfrm>
          <a:prstGeom prst="rect">
            <a:avLst/>
          </a:prstGeom>
          <a:noFill/>
          <a:ln/>
        </p:spPr>
        <p:txBody>
          <a:bodyPr wrap="square" rtlCol="0" anchor="ctr"/>
          <a:lstStyle/>
          <a:p>
            <a:pPr algn="r" indent="0" marL="0">
              <a:buNone/>
            </a:pPr>
            <a:r>
              <a:rPr lang="en-US" sz="900" spc="300" kern="0" dirty="0">
                <a:solidFill>
                  <a:srgbClr val="6B7689"/>
                </a:solidFill>
                <a:latin typeface="Inter" pitchFamily="34" charset="0"/>
                <a:ea typeface="Inter" pitchFamily="34" charset="-122"/>
                <a:cs typeface="Inter" pitchFamily="34" charset="-120"/>
              </a:rPr>
              <a:t>DAC #811 LOTO · OSHA 29 CFR 1910.147</a:t>
            </a:r>
            <a:endParaRPr lang="en-US" sz="900" dirty="0"/>
          </a:p>
        </p:txBody>
      </p:sp>
      <p:sp>
        <p:nvSpPr>
          <p:cNvPr id="5" name="Shape 3"/>
          <p:cNvSpPr/>
          <p:nvPr/>
        </p:nvSpPr>
        <p:spPr>
          <a:xfrm>
            <a:off x="457200" y="1417320"/>
            <a:ext cx="11247120" cy="1417320"/>
          </a:xfrm>
          <a:prstGeom prst="roundRect">
            <a:avLst>
              <a:gd name="adj" fmla="val 6452"/>
            </a:avLst>
          </a:prstGeom>
          <a:solidFill>
            <a:srgbClr val="152033"/>
          </a:solidFill>
          <a:ln w="9525">
            <a:solidFill>
              <a:srgbClr val="2C3853"/>
            </a:solidFill>
            <a:prstDash val="solid"/>
          </a:ln>
        </p:spPr>
      </p:sp>
      <p:sp>
        <p:nvSpPr>
          <p:cNvPr id="6" name="Shape 4"/>
          <p:cNvSpPr/>
          <p:nvPr/>
        </p:nvSpPr>
        <p:spPr>
          <a:xfrm>
            <a:off x="457200" y="1417320"/>
            <a:ext cx="91440" cy="1417320"/>
          </a:xfrm>
          <a:prstGeom prst="rect">
            <a:avLst/>
          </a:prstGeom>
          <a:solidFill>
            <a:srgbClr val="A6AFC2"/>
          </a:solidFill>
          <a:ln w="12700">
            <a:solidFill>
              <a:srgbClr val="A6AFC2"/>
            </a:solidFill>
            <a:prstDash val="solid"/>
          </a:ln>
        </p:spPr>
      </p:sp>
      <p:sp>
        <p:nvSpPr>
          <p:cNvPr id="7" name="Text 5"/>
          <p:cNvSpPr/>
          <p:nvPr/>
        </p:nvSpPr>
        <p:spPr>
          <a:xfrm>
            <a:off x="685800" y="1554480"/>
            <a:ext cx="1645920" cy="274320"/>
          </a:xfrm>
          <a:prstGeom prst="rect">
            <a:avLst/>
          </a:prstGeom>
          <a:noFill/>
          <a:ln/>
        </p:spPr>
        <p:txBody>
          <a:bodyPr wrap="square" rtlCol="0" anchor="t"/>
          <a:lstStyle/>
          <a:p>
            <a:pPr indent="0" marL="0">
              <a:buNone/>
            </a:pPr>
            <a:r>
              <a:rPr lang="en-US" sz="1000" b="1" spc="300" kern="0" dirty="0">
                <a:solidFill>
                  <a:srgbClr val="A6AFC2"/>
                </a:solidFill>
                <a:latin typeface="Inter" pitchFamily="34" charset="0"/>
                <a:ea typeface="Inter" pitchFamily="34" charset="-122"/>
                <a:cs typeface="Inter" pitchFamily="34" charset="-120"/>
              </a:rPr>
              <a:t>VISION</a:t>
            </a:r>
            <a:endParaRPr lang="en-US" sz="1000" dirty="0"/>
          </a:p>
        </p:txBody>
      </p:sp>
      <p:sp>
        <p:nvSpPr>
          <p:cNvPr id="8" name="Text 6"/>
          <p:cNvSpPr/>
          <p:nvPr/>
        </p:nvSpPr>
        <p:spPr>
          <a:xfrm>
            <a:off x="2377440" y="1536192"/>
            <a:ext cx="9052560" cy="1188720"/>
          </a:xfrm>
          <a:prstGeom prst="rect">
            <a:avLst/>
          </a:prstGeom>
          <a:noFill/>
          <a:ln/>
        </p:spPr>
        <p:txBody>
          <a:bodyPr wrap="square" rtlCol="0" anchor="t"/>
          <a:lstStyle/>
          <a:p>
            <a:pPr indent="0" marL="0">
              <a:buNone/>
            </a:pPr>
            <a:r>
              <a:rPr lang="en-US" sz="1150" dirty="0">
                <a:solidFill>
                  <a:srgbClr val="F5F1E8"/>
                </a:solidFill>
                <a:latin typeface="Inter" pitchFamily="34" charset="0"/>
                <a:ea typeface="Inter" pitchFamily="34" charset="-122"/>
                <a:cs typeface="Inter" pitchFamily="34" charset="-120"/>
              </a:rPr>
              <a:t>HUD: "Point at each energy source: fused disconnect, manual starter, ball valves. Photo with all in frame." Maya steps back, fits the whole panel in her field of view, narrates each component as she points at them (Meta AI is listening), captures a wide shot.</a:t>
            </a:r>
            <a:endParaRPr lang="en-US" sz="1150" dirty="0"/>
          </a:p>
        </p:txBody>
      </p:sp>
      <p:sp>
        <p:nvSpPr>
          <p:cNvPr id="9" name="Shape 7"/>
          <p:cNvSpPr/>
          <p:nvPr/>
        </p:nvSpPr>
        <p:spPr>
          <a:xfrm>
            <a:off x="457200" y="2907792"/>
            <a:ext cx="11247120" cy="2103120"/>
          </a:xfrm>
          <a:prstGeom prst="roundRect">
            <a:avLst>
              <a:gd name="adj" fmla="val 4348"/>
            </a:avLst>
          </a:prstGeom>
          <a:solidFill>
            <a:srgbClr val="152033"/>
          </a:solidFill>
          <a:ln w="9525">
            <a:solidFill>
              <a:srgbClr val="2C3853"/>
            </a:solidFill>
            <a:prstDash val="solid"/>
          </a:ln>
        </p:spPr>
      </p:sp>
      <p:sp>
        <p:nvSpPr>
          <p:cNvPr id="10" name="Shape 8"/>
          <p:cNvSpPr/>
          <p:nvPr/>
        </p:nvSpPr>
        <p:spPr>
          <a:xfrm>
            <a:off x="457200" y="2907792"/>
            <a:ext cx="91440" cy="2103120"/>
          </a:xfrm>
          <a:prstGeom prst="rect">
            <a:avLst/>
          </a:prstGeom>
          <a:solidFill>
            <a:srgbClr val="E07B47"/>
          </a:solidFill>
          <a:ln w="12700">
            <a:solidFill>
              <a:srgbClr val="E07B47"/>
            </a:solidFill>
            <a:prstDash val="solid"/>
          </a:ln>
        </p:spPr>
      </p:sp>
      <p:sp>
        <p:nvSpPr>
          <p:cNvPr id="11" name="Text 9"/>
          <p:cNvSpPr/>
          <p:nvPr/>
        </p:nvSpPr>
        <p:spPr>
          <a:xfrm>
            <a:off x="685800" y="3044952"/>
            <a:ext cx="1645920" cy="274320"/>
          </a:xfrm>
          <a:prstGeom prst="rect">
            <a:avLst/>
          </a:prstGeom>
          <a:noFill/>
          <a:ln/>
        </p:spPr>
        <p:txBody>
          <a:bodyPr wrap="square" rtlCol="0" anchor="t"/>
          <a:lstStyle/>
          <a:p>
            <a:pPr indent="0" marL="0">
              <a:buNone/>
            </a:pPr>
            <a:r>
              <a:rPr lang="en-US" sz="1000" b="1" spc="300" kern="0" dirty="0">
                <a:solidFill>
                  <a:srgbClr val="E07B47"/>
                </a:solidFill>
                <a:latin typeface="Inter" pitchFamily="34" charset="0"/>
                <a:ea typeface="Inter" pitchFamily="34" charset="-122"/>
                <a:cs typeface="Inter" pitchFamily="34" charset="-120"/>
              </a:rPr>
              <a:t>REALIZATION</a:t>
            </a:r>
            <a:endParaRPr lang="en-US" sz="1000" dirty="0"/>
          </a:p>
        </p:txBody>
      </p:sp>
      <p:sp>
        <p:nvSpPr>
          <p:cNvPr id="12" name="Text 10"/>
          <p:cNvSpPr/>
          <p:nvPr/>
        </p:nvSpPr>
        <p:spPr>
          <a:xfrm>
            <a:off x="2377440" y="3026664"/>
            <a:ext cx="9052560" cy="329184"/>
          </a:xfrm>
          <a:prstGeom prst="rect">
            <a:avLst/>
          </a:prstGeom>
          <a:noFill/>
          <a:ln/>
        </p:spPr>
        <p:txBody>
          <a:bodyPr wrap="square" rtlCol="0" anchor="t"/>
          <a:lstStyle/>
          <a:p>
            <a:pPr indent="0" marL="0">
              <a:buNone/>
            </a:pPr>
            <a:r>
              <a:rPr lang="en-US" sz="1100" dirty="0">
                <a:solidFill>
                  <a:srgbClr val="F5F1E8"/>
                </a:solidFill>
                <a:latin typeface="Inter" pitchFamily="34" charset="0"/>
                <a:ea typeface="Inter" pitchFamily="34" charset="-122"/>
                <a:cs typeface="Inter" pitchFamily="34" charset="-120"/>
              </a:rPr>
              <a:t>WIDER-FRAME photo, same DAT SDK capture flow. Claude verifies presence of at least 2 of 3 component types: disconnect / starter / ball valve.</a:t>
            </a:r>
            <a:endParaRPr lang="en-US" sz="1100" dirty="0"/>
          </a:p>
        </p:txBody>
      </p:sp>
      <p:sp>
        <p:nvSpPr>
          <p:cNvPr id="13" name="Text 11"/>
          <p:cNvSpPr/>
          <p:nvPr/>
        </p:nvSpPr>
        <p:spPr>
          <a:xfrm>
            <a:off x="2377440" y="3374136"/>
            <a:ext cx="9052560" cy="329184"/>
          </a:xfrm>
          <a:prstGeom prst="rect">
            <a:avLst/>
          </a:prstGeom>
          <a:noFill/>
          <a:ln/>
        </p:spPr>
        <p:txBody>
          <a:bodyPr wrap="square" rtlCol="0" anchor="t"/>
          <a:lstStyle/>
          <a:p>
            <a:pPr indent="0" marL="0">
              <a:buNone/>
            </a:pPr>
            <a:r>
              <a:rPr lang="en-US" sz="1100" dirty="0">
                <a:solidFill>
                  <a:srgbClr val="F5F1E8"/>
                </a:solidFill>
                <a:latin typeface="Inter" pitchFamily="34" charset="0"/>
                <a:ea typeface="Inter" pitchFamily="34" charset="-122"/>
                <a:cs typeface="Inter" pitchFamily="34" charset="-120"/>
              </a:rPr>
              <a:t>AUDIO 6-mic beamforming array captures Maya's narration ("disconnect on the left…") and persists it alongside the photo in the audit log.</a:t>
            </a:r>
            <a:endParaRPr lang="en-US" sz="1100" dirty="0"/>
          </a:p>
        </p:txBody>
      </p:sp>
      <p:sp>
        <p:nvSpPr>
          <p:cNvPr id="14" name="Text 12"/>
          <p:cNvSpPr/>
          <p:nvPr/>
        </p:nvSpPr>
        <p:spPr>
          <a:xfrm>
            <a:off x="2377440" y="3721608"/>
            <a:ext cx="9052560" cy="329184"/>
          </a:xfrm>
          <a:prstGeom prst="rect">
            <a:avLst/>
          </a:prstGeom>
          <a:noFill/>
          <a:ln/>
        </p:spPr>
        <p:txBody>
          <a:bodyPr wrap="square" rtlCol="0" anchor="t"/>
          <a:lstStyle/>
          <a:p>
            <a:pPr indent="0" marL="0">
              <a:buNone/>
            </a:pPr>
            <a:r>
              <a:rPr lang="en-US" sz="1100" dirty="0">
                <a:solidFill>
                  <a:srgbClr val="F5F1E8"/>
                </a:solidFill>
                <a:latin typeface="Inter" pitchFamily="34" charset="0"/>
                <a:ea typeface="Inter" pitchFamily="34" charset="-122"/>
                <a:cs typeface="Inter" pitchFamily="34" charset="-120"/>
              </a:rPr>
              <a:t>DASHBOARD Carlos sees Maya's photo full-size with Claude's annotation: "Disconnect ✓, Starter ✓, Valve ✓." Coaching moment if Maya missed one.</a:t>
            </a:r>
            <a:endParaRPr lang="en-US" sz="1100" dirty="0"/>
          </a:p>
        </p:txBody>
      </p:sp>
      <p:sp>
        <p:nvSpPr>
          <p:cNvPr id="15" name="Shape 13"/>
          <p:cNvSpPr/>
          <p:nvPr/>
        </p:nvSpPr>
        <p:spPr>
          <a:xfrm>
            <a:off x="457200" y="5084064"/>
            <a:ext cx="11247120" cy="1417320"/>
          </a:xfrm>
          <a:prstGeom prst="roundRect">
            <a:avLst>
              <a:gd name="adj" fmla="val 6452"/>
            </a:avLst>
          </a:prstGeom>
          <a:solidFill>
            <a:srgbClr val="152033"/>
          </a:solidFill>
          <a:ln w="9525">
            <a:solidFill>
              <a:srgbClr val="2C3853"/>
            </a:solidFill>
            <a:prstDash val="solid"/>
          </a:ln>
        </p:spPr>
      </p:sp>
      <p:sp>
        <p:nvSpPr>
          <p:cNvPr id="16" name="Shape 14"/>
          <p:cNvSpPr/>
          <p:nvPr/>
        </p:nvSpPr>
        <p:spPr>
          <a:xfrm>
            <a:off x="457200" y="5084064"/>
            <a:ext cx="91440" cy="1417320"/>
          </a:xfrm>
          <a:prstGeom prst="rect">
            <a:avLst/>
          </a:prstGeom>
          <a:solidFill>
            <a:srgbClr val="10B981"/>
          </a:solidFill>
          <a:ln w="12700">
            <a:solidFill>
              <a:srgbClr val="10B981"/>
            </a:solidFill>
            <a:prstDash val="solid"/>
          </a:ln>
        </p:spPr>
      </p:sp>
      <p:sp>
        <p:nvSpPr>
          <p:cNvPr id="17" name="Text 15"/>
          <p:cNvSpPr/>
          <p:nvPr/>
        </p:nvSpPr>
        <p:spPr>
          <a:xfrm>
            <a:off x="685800" y="5221224"/>
            <a:ext cx="1645920" cy="274320"/>
          </a:xfrm>
          <a:prstGeom prst="rect">
            <a:avLst/>
          </a:prstGeom>
          <a:noFill/>
          <a:ln/>
        </p:spPr>
        <p:txBody>
          <a:bodyPr wrap="square" rtlCol="0" anchor="t"/>
          <a:lstStyle/>
          <a:p>
            <a:pPr indent="0" marL="0">
              <a:buNone/>
            </a:pPr>
            <a:r>
              <a:rPr lang="en-US" sz="1000" b="1" spc="300" kern="0" dirty="0">
                <a:solidFill>
                  <a:srgbClr val="10B981"/>
                </a:solidFill>
                <a:latin typeface="Inter" pitchFamily="34" charset="0"/>
                <a:ea typeface="Inter" pitchFamily="34" charset="-122"/>
                <a:cs typeface="Inter" pitchFamily="34" charset="-120"/>
              </a:rPr>
              <a:t>DISCOVERIES</a:t>
            </a:r>
            <a:endParaRPr lang="en-US" sz="1000" dirty="0"/>
          </a:p>
        </p:txBody>
      </p:sp>
      <p:sp>
        <p:nvSpPr>
          <p:cNvPr id="18" name="Text 16"/>
          <p:cNvSpPr/>
          <p:nvPr/>
        </p:nvSpPr>
        <p:spPr>
          <a:xfrm>
            <a:off x="2377440" y="5202936"/>
            <a:ext cx="9052560" cy="329184"/>
          </a:xfrm>
          <a:prstGeom prst="rect">
            <a:avLst/>
          </a:prstGeom>
          <a:noFill/>
          <a:ln/>
        </p:spPr>
        <p:txBody>
          <a:bodyPr wrap="square" rtlCol="0" anchor="t"/>
          <a:lstStyle/>
          <a:p>
            <a:pPr indent="0" marL="0">
              <a:buNone/>
            </a:pPr>
            <a:r>
              <a:rPr lang="en-US" sz="1100" dirty="0">
                <a:solidFill>
                  <a:srgbClr val="F5F1E8"/>
                </a:solidFill>
                <a:latin typeface="Inter" pitchFamily="34" charset="0"/>
                <a:ea typeface="Inter" pitchFamily="34" charset="-122"/>
                <a:cs typeface="Inter" pitchFamily="34" charset="-120"/>
              </a:rPr>
              <a:t>Narration audio can be transcribed and run through Claude in Phase 2 to produce a structured "energy isolation plan" automatically.</a:t>
            </a:r>
            <a:endParaRPr lang="en-US" sz="1100" dirty="0"/>
          </a:p>
        </p:txBody>
      </p:sp>
      <p:sp>
        <p:nvSpPr>
          <p:cNvPr id="19" name="Text 17"/>
          <p:cNvSpPr/>
          <p:nvPr/>
        </p:nvSpPr>
        <p:spPr>
          <a:xfrm>
            <a:off x="2377440" y="5550408"/>
            <a:ext cx="9052560" cy="329184"/>
          </a:xfrm>
          <a:prstGeom prst="rect">
            <a:avLst/>
          </a:prstGeom>
          <a:noFill/>
          <a:ln/>
        </p:spPr>
        <p:txBody>
          <a:bodyPr wrap="square" rtlCol="0" anchor="t"/>
          <a:lstStyle/>
          <a:p>
            <a:pPr indent="0" marL="0">
              <a:buNone/>
            </a:pPr>
            <a:r>
              <a:rPr lang="en-US" sz="1100" dirty="0">
                <a:solidFill>
                  <a:srgbClr val="F5F1E8"/>
                </a:solidFill>
                <a:latin typeface="Inter" pitchFamily="34" charset="0"/>
                <a:ea typeface="Inter" pitchFamily="34" charset="-122"/>
                <a:cs typeface="Inter" pitchFamily="34" charset="-120"/>
              </a:rPr>
              <a:t>Whole-panel photos also serve as the "before" state for Step 10's zero-energy comparison.</a:t>
            </a:r>
            <a:endParaRPr lang="en-US" sz="1100" dirty="0"/>
          </a:p>
        </p:txBody>
      </p:sp>
      <p:sp>
        <p:nvSpPr>
          <p:cNvPr id="20" name="Text 18"/>
          <p:cNvSpPr/>
          <p:nvPr/>
        </p:nvSpPr>
        <p:spPr>
          <a:xfrm>
            <a:off x="457200" y="6565392"/>
            <a:ext cx="11247120" cy="228600"/>
          </a:xfrm>
          <a:prstGeom prst="rect">
            <a:avLst/>
          </a:prstGeom>
          <a:noFill/>
          <a:ln/>
        </p:spPr>
        <p:txBody>
          <a:bodyPr wrap="square" rtlCol="0" anchor="ctr"/>
          <a:lstStyle/>
          <a:p>
            <a:pPr indent="0" marL="0">
              <a:buNone/>
            </a:pPr>
            <a:r>
              <a:rPr lang="en-US" sz="800" spc="300" kern="0" dirty="0">
                <a:solidFill>
                  <a:srgbClr val="6B7689"/>
                </a:solidFill>
                <a:latin typeface="Inter" pitchFamily="34" charset="0"/>
                <a:ea typeface="Inter" pitchFamily="34" charset="-122"/>
                <a:cs typeface="Inter" pitchFamily="34" charset="-120"/>
              </a:rPr>
              <a:t>EON AI VENTURES · FIELD IQ · VISION TO REALIZATION · DAC #811 LOTO · 5 / 12</a:t>
            </a:r>
            <a:endParaRPr lang="en-US" sz="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457200" y="320040"/>
            <a:ext cx="11247120" cy="274320"/>
          </a:xfrm>
          <a:prstGeom prst="rect">
            <a:avLst/>
          </a:prstGeom>
          <a:noFill/>
          <a:ln/>
        </p:spPr>
        <p:txBody>
          <a:bodyPr wrap="square" rtlCol="0" anchor="ctr"/>
          <a:lstStyle/>
          <a:p>
            <a:pPr indent="0" marL="0">
              <a:buNone/>
            </a:pPr>
            <a:r>
              <a:rPr lang="en-US" sz="1000" b="1" spc="400" kern="0" dirty="0">
                <a:solidFill>
                  <a:srgbClr val="E07B47"/>
                </a:solidFill>
                <a:latin typeface="Inter" pitchFamily="34" charset="0"/>
                <a:ea typeface="Inter" pitchFamily="34" charset="-122"/>
                <a:cs typeface="Inter" pitchFamily="34" charset="-120"/>
              </a:rPr>
              <a:t>STEP 4 OF 10 · STOP THE EQUIPMENT</a:t>
            </a:r>
            <a:endParaRPr lang="en-US" sz="1000" dirty="0"/>
          </a:p>
        </p:txBody>
      </p:sp>
      <p:sp>
        <p:nvSpPr>
          <p:cNvPr id="3" name="Text 1"/>
          <p:cNvSpPr/>
          <p:nvPr/>
        </p:nvSpPr>
        <p:spPr>
          <a:xfrm>
            <a:off x="457200" y="640080"/>
            <a:ext cx="11247120" cy="594360"/>
          </a:xfrm>
          <a:prstGeom prst="rect">
            <a:avLst/>
          </a:prstGeom>
          <a:noFill/>
          <a:ln/>
        </p:spPr>
        <p:txBody>
          <a:bodyPr wrap="square" rtlCol="0" anchor="ctr"/>
          <a:lstStyle/>
          <a:p>
            <a:pPr indent="0" marL="0">
              <a:buNone/>
            </a:pPr>
            <a:r>
              <a:rPr lang="en-US" sz="2600" b="1" dirty="0">
                <a:solidFill>
                  <a:srgbClr val="F5F1E8"/>
                </a:solidFill>
                <a:latin typeface="Inter" pitchFamily="34" charset="0"/>
                <a:ea typeface="Inter" pitchFamily="34" charset="-122"/>
                <a:cs typeface="Inter" pitchFamily="34" charset="-120"/>
              </a:rPr>
              <a:t>Step 4 — De-Energize (press STOP)</a:t>
            </a:r>
            <a:endParaRPr lang="en-US" sz="2600" dirty="0"/>
          </a:p>
        </p:txBody>
      </p:sp>
      <p:sp>
        <p:nvSpPr>
          <p:cNvPr id="4" name="Text 2"/>
          <p:cNvSpPr/>
          <p:nvPr/>
        </p:nvSpPr>
        <p:spPr>
          <a:xfrm>
            <a:off x="7772400" y="320040"/>
            <a:ext cx="3931920" cy="274320"/>
          </a:xfrm>
          <a:prstGeom prst="rect">
            <a:avLst/>
          </a:prstGeom>
          <a:noFill/>
          <a:ln/>
        </p:spPr>
        <p:txBody>
          <a:bodyPr wrap="square" rtlCol="0" anchor="ctr"/>
          <a:lstStyle/>
          <a:p>
            <a:pPr algn="r" indent="0" marL="0">
              <a:buNone/>
            </a:pPr>
            <a:r>
              <a:rPr lang="en-US" sz="900" spc="300" kern="0" dirty="0">
                <a:solidFill>
                  <a:srgbClr val="6B7689"/>
                </a:solidFill>
                <a:latin typeface="Inter" pitchFamily="34" charset="0"/>
                <a:ea typeface="Inter" pitchFamily="34" charset="-122"/>
                <a:cs typeface="Inter" pitchFamily="34" charset="-120"/>
              </a:rPr>
              <a:t>DAC #811 LOTO · OSHA 29 CFR 1910.147</a:t>
            </a:r>
            <a:endParaRPr lang="en-US" sz="900" dirty="0"/>
          </a:p>
        </p:txBody>
      </p:sp>
      <p:sp>
        <p:nvSpPr>
          <p:cNvPr id="5" name="Shape 3"/>
          <p:cNvSpPr/>
          <p:nvPr/>
        </p:nvSpPr>
        <p:spPr>
          <a:xfrm>
            <a:off x="457200" y="1417320"/>
            <a:ext cx="11247120" cy="1417320"/>
          </a:xfrm>
          <a:prstGeom prst="roundRect">
            <a:avLst>
              <a:gd name="adj" fmla="val 6452"/>
            </a:avLst>
          </a:prstGeom>
          <a:solidFill>
            <a:srgbClr val="152033"/>
          </a:solidFill>
          <a:ln w="9525">
            <a:solidFill>
              <a:srgbClr val="2C3853"/>
            </a:solidFill>
            <a:prstDash val="solid"/>
          </a:ln>
        </p:spPr>
      </p:sp>
      <p:sp>
        <p:nvSpPr>
          <p:cNvPr id="6" name="Shape 4"/>
          <p:cNvSpPr/>
          <p:nvPr/>
        </p:nvSpPr>
        <p:spPr>
          <a:xfrm>
            <a:off x="457200" y="1417320"/>
            <a:ext cx="91440" cy="1417320"/>
          </a:xfrm>
          <a:prstGeom prst="rect">
            <a:avLst/>
          </a:prstGeom>
          <a:solidFill>
            <a:srgbClr val="A6AFC2"/>
          </a:solidFill>
          <a:ln w="12700">
            <a:solidFill>
              <a:srgbClr val="A6AFC2"/>
            </a:solidFill>
            <a:prstDash val="solid"/>
          </a:ln>
        </p:spPr>
      </p:sp>
      <p:sp>
        <p:nvSpPr>
          <p:cNvPr id="7" name="Text 5"/>
          <p:cNvSpPr/>
          <p:nvPr/>
        </p:nvSpPr>
        <p:spPr>
          <a:xfrm>
            <a:off x="685800" y="1554480"/>
            <a:ext cx="1645920" cy="274320"/>
          </a:xfrm>
          <a:prstGeom prst="rect">
            <a:avLst/>
          </a:prstGeom>
          <a:noFill/>
          <a:ln/>
        </p:spPr>
        <p:txBody>
          <a:bodyPr wrap="square" rtlCol="0" anchor="t"/>
          <a:lstStyle/>
          <a:p>
            <a:pPr indent="0" marL="0">
              <a:buNone/>
            </a:pPr>
            <a:r>
              <a:rPr lang="en-US" sz="1000" b="1" spc="300" kern="0" dirty="0">
                <a:solidFill>
                  <a:srgbClr val="A6AFC2"/>
                </a:solidFill>
                <a:latin typeface="Inter" pitchFamily="34" charset="0"/>
                <a:ea typeface="Inter" pitchFamily="34" charset="-122"/>
                <a:cs typeface="Inter" pitchFamily="34" charset="-120"/>
              </a:rPr>
              <a:t>VISION</a:t>
            </a:r>
            <a:endParaRPr lang="en-US" sz="1000" dirty="0"/>
          </a:p>
        </p:txBody>
      </p:sp>
      <p:sp>
        <p:nvSpPr>
          <p:cNvPr id="8" name="Text 6"/>
          <p:cNvSpPr/>
          <p:nvPr/>
        </p:nvSpPr>
        <p:spPr>
          <a:xfrm>
            <a:off x="2377440" y="1536192"/>
            <a:ext cx="9052560" cy="1188720"/>
          </a:xfrm>
          <a:prstGeom prst="rect">
            <a:avLst/>
          </a:prstGeom>
          <a:noFill/>
          <a:ln/>
        </p:spPr>
        <p:txBody>
          <a:bodyPr wrap="square" rtlCol="0" anchor="t"/>
          <a:lstStyle/>
          <a:p>
            <a:pPr indent="0" marL="0">
              <a:buNone/>
            </a:pPr>
            <a:r>
              <a:rPr lang="en-US" sz="1150" dirty="0">
                <a:solidFill>
                  <a:srgbClr val="F5F1E8"/>
                </a:solidFill>
                <a:latin typeface="Inter" pitchFamily="34" charset="0"/>
                <a:ea typeface="Inter" pitchFamily="34" charset="-122"/>
                <a:cs typeface="Inter" pitchFamily="34" charset="-120"/>
              </a:rPr>
              <a:t>HUD: "Press STOP on the local manual starter. Photo the starter close-up." Maya walks up, presses STOP, frames the switch so the OFF state is unambiguous, captures.</a:t>
            </a:r>
            <a:endParaRPr lang="en-US" sz="1150" dirty="0"/>
          </a:p>
        </p:txBody>
      </p:sp>
      <p:sp>
        <p:nvSpPr>
          <p:cNvPr id="9" name="Shape 7"/>
          <p:cNvSpPr/>
          <p:nvPr/>
        </p:nvSpPr>
        <p:spPr>
          <a:xfrm>
            <a:off x="457200" y="2907792"/>
            <a:ext cx="11247120" cy="2103120"/>
          </a:xfrm>
          <a:prstGeom prst="roundRect">
            <a:avLst>
              <a:gd name="adj" fmla="val 4348"/>
            </a:avLst>
          </a:prstGeom>
          <a:solidFill>
            <a:srgbClr val="152033"/>
          </a:solidFill>
          <a:ln w="9525">
            <a:solidFill>
              <a:srgbClr val="2C3853"/>
            </a:solidFill>
            <a:prstDash val="solid"/>
          </a:ln>
        </p:spPr>
      </p:sp>
      <p:sp>
        <p:nvSpPr>
          <p:cNvPr id="10" name="Shape 8"/>
          <p:cNvSpPr/>
          <p:nvPr/>
        </p:nvSpPr>
        <p:spPr>
          <a:xfrm>
            <a:off x="457200" y="2907792"/>
            <a:ext cx="91440" cy="2103120"/>
          </a:xfrm>
          <a:prstGeom prst="rect">
            <a:avLst/>
          </a:prstGeom>
          <a:solidFill>
            <a:srgbClr val="E07B47"/>
          </a:solidFill>
          <a:ln w="12700">
            <a:solidFill>
              <a:srgbClr val="E07B47"/>
            </a:solidFill>
            <a:prstDash val="solid"/>
          </a:ln>
        </p:spPr>
      </p:sp>
      <p:sp>
        <p:nvSpPr>
          <p:cNvPr id="11" name="Text 9"/>
          <p:cNvSpPr/>
          <p:nvPr/>
        </p:nvSpPr>
        <p:spPr>
          <a:xfrm>
            <a:off x="685800" y="3044952"/>
            <a:ext cx="1645920" cy="274320"/>
          </a:xfrm>
          <a:prstGeom prst="rect">
            <a:avLst/>
          </a:prstGeom>
          <a:noFill/>
          <a:ln/>
        </p:spPr>
        <p:txBody>
          <a:bodyPr wrap="square" rtlCol="0" anchor="t"/>
          <a:lstStyle/>
          <a:p>
            <a:pPr indent="0" marL="0">
              <a:buNone/>
            </a:pPr>
            <a:r>
              <a:rPr lang="en-US" sz="1000" b="1" spc="300" kern="0" dirty="0">
                <a:solidFill>
                  <a:srgbClr val="E07B47"/>
                </a:solidFill>
                <a:latin typeface="Inter" pitchFamily="34" charset="0"/>
                <a:ea typeface="Inter" pitchFamily="34" charset="-122"/>
                <a:cs typeface="Inter" pitchFamily="34" charset="-120"/>
              </a:rPr>
              <a:t>REALIZATION</a:t>
            </a:r>
            <a:endParaRPr lang="en-US" sz="1000" dirty="0"/>
          </a:p>
        </p:txBody>
      </p:sp>
      <p:sp>
        <p:nvSpPr>
          <p:cNvPr id="12" name="Text 10"/>
          <p:cNvSpPr/>
          <p:nvPr/>
        </p:nvSpPr>
        <p:spPr>
          <a:xfrm>
            <a:off x="2377440" y="3026664"/>
            <a:ext cx="9052560" cy="329184"/>
          </a:xfrm>
          <a:prstGeom prst="rect">
            <a:avLst/>
          </a:prstGeom>
          <a:noFill/>
          <a:ln/>
        </p:spPr>
        <p:txBody>
          <a:bodyPr wrap="square" rtlCol="0" anchor="t"/>
          <a:lstStyle/>
          <a:p>
            <a:pPr indent="0" marL="0">
              <a:buNone/>
            </a:pPr>
            <a:r>
              <a:rPr lang="en-US" sz="1100" dirty="0">
                <a:solidFill>
                  <a:srgbClr val="F5F1E8"/>
                </a:solidFill>
                <a:latin typeface="Inter" pitchFamily="34" charset="0"/>
                <a:ea typeface="Inter" pitchFamily="34" charset="-122"/>
                <a:cs typeface="Inter" pitchFamily="34" charset="-120"/>
              </a:rPr>
              <a:t>CLOSE-UP photo. Claude verification prompt is engineered to assess switch STATE (OFF vs RUN), not just identify the switch.</a:t>
            </a:r>
            <a:endParaRPr lang="en-US" sz="1100" dirty="0"/>
          </a:p>
        </p:txBody>
      </p:sp>
      <p:sp>
        <p:nvSpPr>
          <p:cNvPr id="13" name="Text 11"/>
          <p:cNvSpPr/>
          <p:nvPr/>
        </p:nvSpPr>
        <p:spPr>
          <a:xfrm>
            <a:off x="2377440" y="3374136"/>
            <a:ext cx="9052560" cy="329184"/>
          </a:xfrm>
          <a:prstGeom prst="rect">
            <a:avLst/>
          </a:prstGeom>
          <a:noFill/>
          <a:ln/>
        </p:spPr>
        <p:txBody>
          <a:bodyPr wrap="square" rtlCol="0" anchor="t"/>
          <a:lstStyle/>
          <a:p>
            <a:pPr indent="0" marL="0">
              <a:buNone/>
            </a:pPr>
            <a:r>
              <a:rPr lang="en-US" sz="1100" dirty="0">
                <a:solidFill>
                  <a:srgbClr val="F5F1E8"/>
                </a:solidFill>
                <a:latin typeface="Inter" pitchFamily="34" charset="0"/>
                <a:ea typeface="Inter" pitchFamily="34" charset="-122"/>
                <a:cs typeface="Inter" pitchFamily="34" charset="-120"/>
              </a:rPr>
              <a:t>RETRY behavior first kicks in here: if state is ambiguous, HUD goes amber with a one-line correction. Retry counter increments. After 3 retries, Carlos is paged.</a:t>
            </a:r>
            <a:endParaRPr lang="en-US" sz="1100" dirty="0"/>
          </a:p>
        </p:txBody>
      </p:sp>
      <p:sp>
        <p:nvSpPr>
          <p:cNvPr id="14" name="Shape 12"/>
          <p:cNvSpPr/>
          <p:nvPr/>
        </p:nvSpPr>
        <p:spPr>
          <a:xfrm>
            <a:off x="457200" y="5084064"/>
            <a:ext cx="11247120" cy="1417320"/>
          </a:xfrm>
          <a:prstGeom prst="roundRect">
            <a:avLst>
              <a:gd name="adj" fmla="val 6452"/>
            </a:avLst>
          </a:prstGeom>
          <a:solidFill>
            <a:srgbClr val="152033"/>
          </a:solidFill>
          <a:ln w="9525">
            <a:solidFill>
              <a:srgbClr val="2C3853"/>
            </a:solidFill>
            <a:prstDash val="solid"/>
          </a:ln>
        </p:spPr>
      </p:sp>
      <p:sp>
        <p:nvSpPr>
          <p:cNvPr id="15" name="Shape 13"/>
          <p:cNvSpPr/>
          <p:nvPr/>
        </p:nvSpPr>
        <p:spPr>
          <a:xfrm>
            <a:off x="457200" y="5084064"/>
            <a:ext cx="91440" cy="1417320"/>
          </a:xfrm>
          <a:prstGeom prst="rect">
            <a:avLst/>
          </a:prstGeom>
          <a:solidFill>
            <a:srgbClr val="10B981"/>
          </a:solidFill>
          <a:ln w="12700">
            <a:solidFill>
              <a:srgbClr val="10B981"/>
            </a:solidFill>
            <a:prstDash val="solid"/>
          </a:ln>
        </p:spPr>
      </p:sp>
      <p:sp>
        <p:nvSpPr>
          <p:cNvPr id="16" name="Text 14"/>
          <p:cNvSpPr/>
          <p:nvPr/>
        </p:nvSpPr>
        <p:spPr>
          <a:xfrm>
            <a:off x="685800" y="5221224"/>
            <a:ext cx="1645920" cy="274320"/>
          </a:xfrm>
          <a:prstGeom prst="rect">
            <a:avLst/>
          </a:prstGeom>
          <a:noFill/>
          <a:ln/>
        </p:spPr>
        <p:txBody>
          <a:bodyPr wrap="square" rtlCol="0" anchor="t"/>
          <a:lstStyle/>
          <a:p>
            <a:pPr indent="0" marL="0">
              <a:buNone/>
            </a:pPr>
            <a:r>
              <a:rPr lang="en-US" sz="1000" b="1" spc="300" kern="0" dirty="0">
                <a:solidFill>
                  <a:srgbClr val="10B981"/>
                </a:solidFill>
                <a:latin typeface="Inter" pitchFamily="34" charset="0"/>
                <a:ea typeface="Inter" pitchFamily="34" charset="-122"/>
                <a:cs typeface="Inter" pitchFamily="34" charset="-120"/>
              </a:rPr>
              <a:t>DISCOVERIES</a:t>
            </a:r>
            <a:endParaRPr lang="en-US" sz="1000" dirty="0"/>
          </a:p>
        </p:txBody>
      </p:sp>
      <p:sp>
        <p:nvSpPr>
          <p:cNvPr id="17" name="Text 15"/>
          <p:cNvSpPr/>
          <p:nvPr/>
        </p:nvSpPr>
        <p:spPr>
          <a:xfrm>
            <a:off x="2377440" y="5202936"/>
            <a:ext cx="9052560" cy="329184"/>
          </a:xfrm>
          <a:prstGeom prst="rect">
            <a:avLst/>
          </a:prstGeom>
          <a:noFill/>
          <a:ln/>
        </p:spPr>
        <p:txBody>
          <a:bodyPr wrap="square" rtlCol="0" anchor="t"/>
          <a:lstStyle/>
          <a:p>
            <a:pPr indent="0" marL="0">
              <a:buNone/>
            </a:pPr>
            <a:r>
              <a:rPr lang="en-US" sz="1100" dirty="0">
                <a:solidFill>
                  <a:srgbClr val="F5F1E8"/>
                </a:solidFill>
                <a:latin typeface="Inter" pitchFamily="34" charset="0"/>
                <a:ea typeface="Inter" pitchFamily="34" charset="-122"/>
                <a:cs typeface="Inter" pitchFamily="34" charset="-120"/>
              </a:rPr>
              <a:t>Retry-count signal across many sessions reveals: poor training-bay lighting, unclear instruction, or poorly-tuned verification prompt. Phase 2 dashboard surfaces these patterns.</a:t>
            </a:r>
            <a:endParaRPr lang="en-US" sz="1100" dirty="0"/>
          </a:p>
        </p:txBody>
      </p:sp>
      <p:sp>
        <p:nvSpPr>
          <p:cNvPr id="18" name="Text 16"/>
          <p:cNvSpPr/>
          <p:nvPr/>
        </p:nvSpPr>
        <p:spPr>
          <a:xfrm>
            <a:off x="2377440" y="5550408"/>
            <a:ext cx="9052560" cy="329184"/>
          </a:xfrm>
          <a:prstGeom prst="rect">
            <a:avLst/>
          </a:prstGeom>
          <a:noFill/>
          <a:ln/>
        </p:spPr>
        <p:txBody>
          <a:bodyPr wrap="square" rtlCol="0" anchor="t"/>
          <a:lstStyle/>
          <a:p>
            <a:pPr indent="0" marL="0">
              <a:buNone/>
            </a:pPr>
            <a:r>
              <a:rPr lang="en-US" sz="1100" dirty="0">
                <a:solidFill>
                  <a:srgbClr val="F5F1E8"/>
                </a:solidFill>
                <a:latin typeface="Inter" pitchFamily="34" charset="0"/>
                <a:ea typeface="Inter" pitchFamily="34" charset="-122"/>
                <a:cs typeface="Inter" pitchFamily="34" charset="-120"/>
              </a:rPr>
              <a:t>Claude's confidence score (0-1) lets us tune the silent-pass threshold per step. Step 4 can be set stricter than Step 1.</a:t>
            </a:r>
            <a:endParaRPr lang="en-US" sz="1100" dirty="0"/>
          </a:p>
        </p:txBody>
      </p:sp>
      <p:sp>
        <p:nvSpPr>
          <p:cNvPr id="19" name="Text 17"/>
          <p:cNvSpPr/>
          <p:nvPr/>
        </p:nvSpPr>
        <p:spPr>
          <a:xfrm>
            <a:off x="457200" y="6565392"/>
            <a:ext cx="11247120" cy="228600"/>
          </a:xfrm>
          <a:prstGeom prst="rect">
            <a:avLst/>
          </a:prstGeom>
          <a:noFill/>
          <a:ln/>
        </p:spPr>
        <p:txBody>
          <a:bodyPr wrap="square" rtlCol="0" anchor="ctr"/>
          <a:lstStyle/>
          <a:p>
            <a:pPr indent="0" marL="0">
              <a:buNone/>
            </a:pPr>
            <a:r>
              <a:rPr lang="en-US" sz="800" spc="300" kern="0" dirty="0">
                <a:solidFill>
                  <a:srgbClr val="6B7689"/>
                </a:solidFill>
                <a:latin typeface="Inter" pitchFamily="34" charset="0"/>
                <a:ea typeface="Inter" pitchFamily="34" charset="-122"/>
                <a:cs typeface="Inter" pitchFamily="34" charset="-120"/>
              </a:rPr>
              <a:t>EON AI VENTURES · FIELD IQ · VISION TO REALIZATION · DAC #811 LOTO · 6 / 12</a:t>
            </a:r>
            <a:endParaRPr lang="en-US" sz="8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457200" y="320040"/>
            <a:ext cx="11247120" cy="274320"/>
          </a:xfrm>
          <a:prstGeom prst="rect">
            <a:avLst/>
          </a:prstGeom>
          <a:noFill/>
          <a:ln/>
        </p:spPr>
        <p:txBody>
          <a:bodyPr wrap="square" rtlCol="0" anchor="ctr"/>
          <a:lstStyle/>
          <a:p>
            <a:pPr indent="0" marL="0">
              <a:buNone/>
            </a:pPr>
            <a:r>
              <a:rPr lang="en-US" sz="1000" b="1" spc="400" kern="0" dirty="0">
                <a:solidFill>
                  <a:srgbClr val="E07B47"/>
                </a:solidFill>
                <a:latin typeface="Inter" pitchFamily="34" charset="0"/>
                <a:ea typeface="Inter" pitchFamily="34" charset="-122"/>
                <a:cs typeface="Inter" pitchFamily="34" charset="-120"/>
              </a:rPr>
              <a:t>STEP 5 OF 10 · OPEN DISCONNECT</a:t>
            </a:r>
            <a:endParaRPr lang="en-US" sz="1000" dirty="0"/>
          </a:p>
        </p:txBody>
      </p:sp>
      <p:sp>
        <p:nvSpPr>
          <p:cNvPr id="3" name="Text 1"/>
          <p:cNvSpPr/>
          <p:nvPr/>
        </p:nvSpPr>
        <p:spPr>
          <a:xfrm>
            <a:off x="457200" y="640080"/>
            <a:ext cx="11247120" cy="594360"/>
          </a:xfrm>
          <a:prstGeom prst="rect">
            <a:avLst/>
          </a:prstGeom>
          <a:noFill/>
          <a:ln/>
        </p:spPr>
        <p:txBody>
          <a:bodyPr wrap="square" rtlCol="0" anchor="ctr"/>
          <a:lstStyle/>
          <a:p>
            <a:pPr indent="0" marL="0">
              <a:buNone/>
            </a:pPr>
            <a:r>
              <a:rPr lang="en-US" sz="2600" b="1" dirty="0">
                <a:solidFill>
                  <a:srgbClr val="F5F1E8"/>
                </a:solidFill>
                <a:latin typeface="Inter" pitchFamily="34" charset="0"/>
                <a:ea typeface="Inter" pitchFamily="34" charset="-122"/>
                <a:cs typeface="Inter" pitchFamily="34" charset="-120"/>
              </a:rPr>
              <a:t>Step 5 — Open Main Disconnect</a:t>
            </a:r>
            <a:endParaRPr lang="en-US" sz="2600" dirty="0"/>
          </a:p>
        </p:txBody>
      </p:sp>
      <p:sp>
        <p:nvSpPr>
          <p:cNvPr id="4" name="Text 2"/>
          <p:cNvSpPr/>
          <p:nvPr/>
        </p:nvSpPr>
        <p:spPr>
          <a:xfrm>
            <a:off x="7772400" y="320040"/>
            <a:ext cx="3931920" cy="274320"/>
          </a:xfrm>
          <a:prstGeom prst="rect">
            <a:avLst/>
          </a:prstGeom>
          <a:noFill/>
          <a:ln/>
        </p:spPr>
        <p:txBody>
          <a:bodyPr wrap="square" rtlCol="0" anchor="ctr"/>
          <a:lstStyle/>
          <a:p>
            <a:pPr algn="r" indent="0" marL="0">
              <a:buNone/>
            </a:pPr>
            <a:r>
              <a:rPr lang="en-US" sz="900" spc="300" kern="0" dirty="0">
                <a:solidFill>
                  <a:srgbClr val="6B7689"/>
                </a:solidFill>
                <a:latin typeface="Inter" pitchFamily="34" charset="0"/>
                <a:ea typeface="Inter" pitchFamily="34" charset="-122"/>
                <a:cs typeface="Inter" pitchFamily="34" charset="-120"/>
              </a:rPr>
              <a:t>DAC #811 LOTO · OSHA 29 CFR 1910.147</a:t>
            </a:r>
            <a:endParaRPr lang="en-US" sz="900" dirty="0"/>
          </a:p>
        </p:txBody>
      </p:sp>
      <p:sp>
        <p:nvSpPr>
          <p:cNvPr id="5" name="Shape 3"/>
          <p:cNvSpPr/>
          <p:nvPr/>
        </p:nvSpPr>
        <p:spPr>
          <a:xfrm>
            <a:off x="457200" y="1417320"/>
            <a:ext cx="11247120" cy="1417320"/>
          </a:xfrm>
          <a:prstGeom prst="roundRect">
            <a:avLst>
              <a:gd name="adj" fmla="val 6452"/>
            </a:avLst>
          </a:prstGeom>
          <a:solidFill>
            <a:srgbClr val="152033"/>
          </a:solidFill>
          <a:ln w="9525">
            <a:solidFill>
              <a:srgbClr val="2C3853"/>
            </a:solidFill>
            <a:prstDash val="solid"/>
          </a:ln>
        </p:spPr>
      </p:sp>
      <p:sp>
        <p:nvSpPr>
          <p:cNvPr id="6" name="Shape 4"/>
          <p:cNvSpPr/>
          <p:nvPr/>
        </p:nvSpPr>
        <p:spPr>
          <a:xfrm>
            <a:off x="457200" y="1417320"/>
            <a:ext cx="91440" cy="1417320"/>
          </a:xfrm>
          <a:prstGeom prst="rect">
            <a:avLst/>
          </a:prstGeom>
          <a:solidFill>
            <a:srgbClr val="A6AFC2"/>
          </a:solidFill>
          <a:ln w="12700">
            <a:solidFill>
              <a:srgbClr val="A6AFC2"/>
            </a:solidFill>
            <a:prstDash val="solid"/>
          </a:ln>
        </p:spPr>
      </p:sp>
      <p:sp>
        <p:nvSpPr>
          <p:cNvPr id="7" name="Text 5"/>
          <p:cNvSpPr/>
          <p:nvPr/>
        </p:nvSpPr>
        <p:spPr>
          <a:xfrm>
            <a:off x="685800" y="1554480"/>
            <a:ext cx="1645920" cy="274320"/>
          </a:xfrm>
          <a:prstGeom prst="rect">
            <a:avLst/>
          </a:prstGeom>
          <a:noFill/>
          <a:ln/>
        </p:spPr>
        <p:txBody>
          <a:bodyPr wrap="square" rtlCol="0" anchor="t"/>
          <a:lstStyle/>
          <a:p>
            <a:pPr indent="0" marL="0">
              <a:buNone/>
            </a:pPr>
            <a:r>
              <a:rPr lang="en-US" sz="1000" b="1" spc="300" kern="0" dirty="0">
                <a:solidFill>
                  <a:srgbClr val="A6AFC2"/>
                </a:solidFill>
                <a:latin typeface="Inter" pitchFamily="34" charset="0"/>
                <a:ea typeface="Inter" pitchFamily="34" charset="-122"/>
                <a:cs typeface="Inter" pitchFamily="34" charset="-120"/>
              </a:rPr>
              <a:t>VISION</a:t>
            </a:r>
            <a:endParaRPr lang="en-US" sz="1000" dirty="0"/>
          </a:p>
        </p:txBody>
      </p:sp>
      <p:sp>
        <p:nvSpPr>
          <p:cNvPr id="8" name="Text 6"/>
          <p:cNvSpPr/>
          <p:nvPr/>
        </p:nvSpPr>
        <p:spPr>
          <a:xfrm>
            <a:off x="2377440" y="1536192"/>
            <a:ext cx="9052560" cy="1188720"/>
          </a:xfrm>
          <a:prstGeom prst="rect">
            <a:avLst/>
          </a:prstGeom>
          <a:noFill/>
          <a:ln/>
        </p:spPr>
        <p:txBody>
          <a:bodyPr wrap="square" rtlCol="0" anchor="t"/>
          <a:lstStyle/>
          <a:p>
            <a:pPr indent="0" marL="0">
              <a:buNone/>
            </a:pPr>
            <a:r>
              <a:rPr lang="en-US" sz="1150" dirty="0">
                <a:solidFill>
                  <a:srgbClr val="F5F1E8"/>
                </a:solidFill>
                <a:latin typeface="Inter" pitchFamily="34" charset="0"/>
                <a:ea typeface="Inter" pitchFamily="34" charset="-122"/>
                <a:cs typeface="Inter" pitchFamily="34" charset="-120"/>
              </a:rPr>
              <a:t>HUD: "Open the fused disconnect switch (handle DOWN). Photo close-up." Maya grabs the handle on the fused disconnect box, swings it down to the OFF position, captures close-up.</a:t>
            </a:r>
            <a:endParaRPr lang="en-US" sz="1150" dirty="0"/>
          </a:p>
        </p:txBody>
      </p:sp>
      <p:sp>
        <p:nvSpPr>
          <p:cNvPr id="9" name="Shape 7"/>
          <p:cNvSpPr/>
          <p:nvPr/>
        </p:nvSpPr>
        <p:spPr>
          <a:xfrm>
            <a:off x="457200" y="2907792"/>
            <a:ext cx="11247120" cy="2103120"/>
          </a:xfrm>
          <a:prstGeom prst="roundRect">
            <a:avLst>
              <a:gd name="adj" fmla="val 4348"/>
            </a:avLst>
          </a:prstGeom>
          <a:solidFill>
            <a:srgbClr val="152033"/>
          </a:solidFill>
          <a:ln w="9525">
            <a:solidFill>
              <a:srgbClr val="2C3853"/>
            </a:solidFill>
            <a:prstDash val="solid"/>
          </a:ln>
        </p:spPr>
      </p:sp>
      <p:sp>
        <p:nvSpPr>
          <p:cNvPr id="10" name="Shape 8"/>
          <p:cNvSpPr/>
          <p:nvPr/>
        </p:nvSpPr>
        <p:spPr>
          <a:xfrm>
            <a:off x="457200" y="2907792"/>
            <a:ext cx="91440" cy="2103120"/>
          </a:xfrm>
          <a:prstGeom prst="rect">
            <a:avLst/>
          </a:prstGeom>
          <a:solidFill>
            <a:srgbClr val="E07B47"/>
          </a:solidFill>
          <a:ln w="12700">
            <a:solidFill>
              <a:srgbClr val="E07B47"/>
            </a:solidFill>
            <a:prstDash val="solid"/>
          </a:ln>
        </p:spPr>
      </p:sp>
      <p:sp>
        <p:nvSpPr>
          <p:cNvPr id="11" name="Text 9"/>
          <p:cNvSpPr/>
          <p:nvPr/>
        </p:nvSpPr>
        <p:spPr>
          <a:xfrm>
            <a:off x="685800" y="3044952"/>
            <a:ext cx="1645920" cy="274320"/>
          </a:xfrm>
          <a:prstGeom prst="rect">
            <a:avLst/>
          </a:prstGeom>
          <a:noFill/>
          <a:ln/>
        </p:spPr>
        <p:txBody>
          <a:bodyPr wrap="square" rtlCol="0" anchor="t"/>
          <a:lstStyle/>
          <a:p>
            <a:pPr indent="0" marL="0">
              <a:buNone/>
            </a:pPr>
            <a:r>
              <a:rPr lang="en-US" sz="1000" b="1" spc="300" kern="0" dirty="0">
                <a:solidFill>
                  <a:srgbClr val="E07B47"/>
                </a:solidFill>
                <a:latin typeface="Inter" pitchFamily="34" charset="0"/>
                <a:ea typeface="Inter" pitchFamily="34" charset="-122"/>
                <a:cs typeface="Inter" pitchFamily="34" charset="-120"/>
              </a:rPr>
              <a:t>REALIZATION</a:t>
            </a:r>
            <a:endParaRPr lang="en-US" sz="1000" dirty="0"/>
          </a:p>
        </p:txBody>
      </p:sp>
      <p:sp>
        <p:nvSpPr>
          <p:cNvPr id="12" name="Text 10"/>
          <p:cNvSpPr/>
          <p:nvPr/>
        </p:nvSpPr>
        <p:spPr>
          <a:xfrm>
            <a:off x="2377440" y="3026664"/>
            <a:ext cx="9052560" cy="329184"/>
          </a:xfrm>
          <a:prstGeom prst="rect">
            <a:avLst/>
          </a:prstGeom>
          <a:noFill/>
          <a:ln/>
        </p:spPr>
        <p:txBody>
          <a:bodyPr wrap="square" rtlCol="0" anchor="t"/>
          <a:lstStyle/>
          <a:p>
            <a:pPr indent="0" marL="0">
              <a:buNone/>
            </a:pPr>
            <a:r>
              <a:rPr lang="en-US" sz="1100" dirty="0">
                <a:solidFill>
                  <a:srgbClr val="F5F1E8"/>
                </a:solidFill>
                <a:latin typeface="Inter" pitchFamily="34" charset="0"/>
                <a:ea typeface="Inter" pitchFamily="34" charset="-122"/>
                <a:cs typeface="Inter" pitchFamily="34" charset="-120"/>
              </a:rPr>
              <a:t>Standard photo capture flow. Claude verifies handle position (DOWN = OPEN).</a:t>
            </a:r>
            <a:endParaRPr lang="en-US" sz="1100" dirty="0"/>
          </a:p>
        </p:txBody>
      </p:sp>
      <p:sp>
        <p:nvSpPr>
          <p:cNvPr id="13" name="Text 11"/>
          <p:cNvSpPr/>
          <p:nvPr/>
        </p:nvSpPr>
        <p:spPr>
          <a:xfrm>
            <a:off x="2377440" y="3374136"/>
            <a:ext cx="9052560" cy="329184"/>
          </a:xfrm>
          <a:prstGeom prst="rect">
            <a:avLst/>
          </a:prstGeom>
          <a:noFill/>
          <a:ln/>
        </p:spPr>
        <p:txBody>
          <a:bodyPr wrap="square" rtlCol="0" anchor="t"/>
          <a:lstStyle/>
          <a:p>
            <a:pPr indent="0" marL="0">
              <a:buNone/>
            </a:pPr>
            <a:r>
              <a:rPr lang="en-US" sz="1100" dirty="0">
                <a:solidFill>
                  <a:srgbClr val="F5F1E8"/>
                </a:solidFill>
                <a:latin typeface="Inter" pitchFamily="34" charset="0"/>
                <a:ea typeface="Inter" pitchFamily="34" charset="-122"/>
                <a:cs typeface="Inter" pitchFamily="34" charset="-120"/>
              </a:rPr>
              <a:t>Geometric reasoning: handle's vertical orientation is unambiguous in 2D — no depth sensor needed. Works perfectly with the Ray-Ban Display's monocular camera.</a:t>
            </a:r>
            <a:endParaRPr lang="en-US" sz="1100" dirty="0"/>
          </a:p>
        </p:txBody>
      </p:sp>
      <p:sp>
        <p:nvSpPr>
          <p:cNvPr id="14" name="Shape 12"/>
          <p:cNvSpPr/>
          <p:nvPr/>
        </p:nvSpPr>
        <p:spPr>
          <a:xfrm>
            <a:off x="457200" y="5084064"/>
            <a:ext cx="11247120" cy="1417320"/>
          </a:xfrm>
          <a:prstGeom prst="roundRect">
            <a:avLst>
              <a:gd name="adj" fmla="val 6452"/>
            </a:avLst>
          </a:prstGeom>
          <a:solidFill>
            <a:srgbClr val="152033"/>
          </a:solidFill>
          <a:ln w="9525">
            <a:solidFill>
              <a:srgbClr val="2C3853"/>
            </a:solidFill>
            <a:prstDash val="solid"/>
          </a:ln>
        </p:spPr>
      </p:sp>
      <p:sp>
        <p:nvSpPr>
          <p:cNvPr id="15" name="Shape 13"/>
          <p:cNvSpPr/>
          <p:nvPr/>
        </p:nvSpPr>
        <p:spPr>
          <a:xfrm>
            <a:off x="457200" y="5084064"/>
            <a:ext cx="91440" cy="1417320"/>
          </a:xfrm>
          <a:prstGeom prst="rect">
            <a:avLst/>
          </a:prstGeom>
          <a:solidFill>
            <a:srgbClr val="10B981"/>
          </a:solidFill>
          <a:ln w="12700">
            <a:solidFill>
              <a:srgbClr val="10B981"/>
            </a:solidFill>
            <a:prstDash val="solid"/>
          </a:ln>
        </p:spPr>
      </p:sp>
      <p:sp>
        <p:nvSpPr>
          <p:cNvPr id="16" name="Text 14"/>
          <p:cNvSpPr/>
          <p:nvPr/>
        </p:nvSpPr>
        <p:spPr>
          <a:xfrm>
            <a:off x="685800" y="5221224"/>
            <a:ext cx="1645920" cy="274320"/>
          </a:xfrm>
          <a:prstGeom prst="rect">
            <a:avLst/>
          </a:prstGeom>
          <a:noFill/>
          <a:ln/>
        </p:spPr>
        <p:txBody>
          <a:bodyPr wrap="square" rtlCol="0" anchor="t"/>
          <a:lstStyle/>
          <a:p>
            <a:pPr indent="0" marL="0">
              <a:buNone/>
            </a:pPr>
            <a:r>
              <a:rPr lang="en-US" sz="1000" b="1" spc="300" kern="0" dirty="0">
                <a:solidFill>
                  <a:srgbClr val="10B981"/>
                </a:solidFill>
                <a:latin typeface="Inter" pitchFamily="34" charset="0"/>
                <a:ea typeface="Inter" pitchFamily="34" charset="-122"/>
                <a:cs typeface="Inter" pitchFamily="34" charset="-120"/>
              </a:rPr>
              <a:t>DISCOVERIES</a:t>
            </a:r>
            <a:endParaRPr lang="en-US" sz="1000" dirty="0"/>
          </a:p>
        </p:txBody>
      </p:sp>
      <p:sp>
        <p:nvSpPr>
          <p:cNvPr id="17" name="Text 15"/>
          <p:cNvSpPr/>
          <p:nvPr/>
        </p:nvSpPr>
        <p:spPr>
          <a:xfrm>
            <a:off x="2377440" y="5202936"/>
            <a:ext cx="9052560" cy="329184"/>
          </a:xfrm>
          <a:prstGeom prst="rect">
            <a:avLst/>
          </a:prstGeom>
          <a:noFill/>
          <a:ln/>
        </p:spPr>
        <p:txBody>
          <a:bodyPr wrap="square" rtlCol="0" anchor="t"/>
          <a:lstStyle/>
          <a:p>
            <a:pPr indent="0" marL="0">
              <a:buNone/>
            </a:pPr>
            <a:r>
              <a:rPr lang="en-US" sz="1100" dirty="0">
                <a:solidFill>
                  <a:srgbClr val="F5F1E8"/>
                </a:solidFill>
                <a:latin typeface="Inter" pitchFamily="34" charset="0"/>
                <a:ea typeface="Inter" pitchFamily="34" charset="-122"/>
                <a:cs typeface="Inter" pitchFamily="34" charset="-120"/>
              </a:rPr>
              <a:t>Confirmed: 2D photo is sufficient for handle-orientation verification. We do NOT need stereoscopic / depth-sensing cameras. Significant architectural simplification.</a:t>
            </a:r>
            <a:endParaRPr lang="en-US" sz="1100" dirty="0"/>
          </a:p>
        </p:txBody>
      </p:sp>
      <p:sp>
        <p:nvSpPr>
          <p:cNvPr id="18" name="Text 16"/>
          <p:cNvSpPr/>
          <p:nvPr/>
        </p:nvSpPr>
        <p:spPr>
          <a:xfrm>
            <a:off x="2377440" y="5550408"/>
            <a:ext cx="9052560" cy="329184"/>
          </a:xfrm>
          <a:prstGeom prst="rect">
            <a:avLst/>
          </a:prstGeom>
          <a:noFill/>
          <a:ln/>
        </p:spPr>
        <p:txBody>
          <a:bodyPr wrap="square" rtlCol="0" anchor="t"/>
          <a:lstStyle/>
          <a:p>
            <a:pPr indent="0" marL="0">
              <a:buNone/>
            </a:pPr>
            <a:r>
              <a:rPr lang="en-US" sz="1100" dirty="0">
                <a:solidFill>
                  <a:srgbClr val="F5F1E8"/>
                </a:solidFill>
                <a:latin typeface="Inter" pitchFamily="34" charset="0"/>
                <a:ea typeface="Inter" pitchFamily="34" charset="-122"/>
                <a:cs typeface="Inter" pitchFamily="34" charset="-120"/>
              </a:rPr>
              <a:t>Phase 2: use the same approach for valve handles, breaker switches, butterfly valves — the geometric vocabulary generalizes.</a:t>
            </a:r>
            <a:endParaRPr lang="en-US" sz="1100" dirty="0"/>
          </a:p>
        </p:txBody>
      </p:sp>
      <p:sp>
        <p:nvSpPr>
          <p:cNvPr id="19" name="Text 17"/>
          <p:cNvSpPr/>
          <p:nvPr/>
        </p:nvSpPr>
        <p:spPr>
          <a:xfrm>
            <a:off x="457200" y="6565392"/>
            <a:ext cx="11247120" cy="228600"/>
          </a:xfrm>
          <a:prstGeom prst="rect">
            <a:avLst/>
          </a:prstGeom>
          <a:noFill/>
          <a:ln/>
        </p:spPr>
        <p:txBody>
          <a:bodyPr wrap="square" rtlCol="0" anchor="ctr"/>
          <a:lstStyle/>
          <a:p>
            <a:pPr indent="0" marL="0">
              <a:buNone/>
            </a:pPr>
            <a:r>
              <a:rPr lang="en-US" sz="800" spc="300" kern="0" dirty="0">
                <a:solidFill>
                  <a:srgbClr val="6B7689"/>
                </a:solidFill>
                <a:latin typeface="Inter" pitchFamily="34" charset="0"/>
                <a:ea typeface="Inter" pitchFamily="34" charset="-122"/>
                <a:cs typeface="Inter" pitchFamily="34" charset="-120"/>
              </a:rPr>
              <a:t>EON AI VENTURES · FIELD IQ · VISION TO REALIZATION · DAC #811 LOTO · 7 / 12</a:t>
            </a:r>
            <a:endParaRPr lang="en-US" sz="8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457200" y="320040"/>
            <a:ext cx="11247120" cy="274320"/>
          </a:xfrm>
          <a:prstGeom prst="rect">
            <a:avLst/>
          </a:prstGeom>
          <a:noFill/>
          <a:ln/>
        </p:spPr>
        <p:txBody>
          <a:bodyPr wrap="square" rtlCol="0" anchor="ctr"/>
          <a:lstStyle/>
          <a:p>
            <a:pPr indent="0" marL="0">
              <a:buNone/>
            </a:pPr>
            <a:r>
              <a:rPr lang="en-US" sz="1000" b="1" spc="400" kern="0" dirty="0">
                <a:solidFill>
                  <a:srgbClr val="E07B47"/>
                </a:solidFill>
                <a:latin typeface="Inter" pitchFamily="34" charset="0"/>
                <a:ea typeface="Inter" pitchFamily="34" charset="-122"/>
                <a:cs typeface="Inter" pitchFamily="34" charset="-120"/>
              </a:rPr>
              <a:t>STEP 6 OF 10 · APPLY HASP</a:t>
            </a:r>
            <a:endParaRPr lang="en-US" sz="1000" dirty="0"/>
          </a:p>
        </p:txBody>
      </p:sp>
      <p:sp>
        <p:nvSpPr>
          <p:cNvPr id="3" name="Text 1"/>
          <p:cNvSpPr/>
          <p:nvPr/>
        </p:nvSpPr>
        <p:spPr>
          <a:xfrm>
            <a:off x="457200" y="640080"/>
            <a:ext cx="11247120" cy="594360"/>
          </a:xfrm>
          <a:prstGeom prst="rect">
            <a:avLst/>
          </a:prstGeom>
          <a:noFill/>
          <a:ln/>
        </p:spPr>
        <p:txBody>
          <a:bodyPr wrap="square" rtlCol="0" anchor="ctr"/>
          <a:lstStyle/>
          <a:p>
            <a:pPr indent="0" marL="0">
              <a:buNone/>
            </a:pPr>
            <a:r>
              <a:rPr lang="en-US" sz="2600" b="1" dirty="0">
                <a:solidFill>
                  <a:srgbClr val="F5F1E8"/>
                </a:solidFill>
                <a:latin typeface="Inter" pitchFamily="34" charset="0"/>
                <a:ea typeface="Inter" pitchFamily="34" charset="-122"/>
                <a:cs typeface="Inter" pitchFamily="34" charset="-120"/>
              </a:rPr>
              <a:t>Step 6 — Apply Lockout Hasp</a:t>
            </a:r>
            <a:endParaRPr lang="en-US" sz="2600" dirty="0"/>
          </a:p>
        </p:txBody>
      </p:sp>
      <p:sp>
        <p:nvSpPr>
          <p:cNvPr id="4" name="Text 2"/>
          <p:cNvSpPr/>
          <p:nvPr/>
        </p:nvSpPr>
        <p:spPr>
          <a:xfrm>
            <a:off x="7772400" y="320040"/>
            <a:ext cx="3931920" cy="274320"/>
          </a:xfrm>
          <a:prstGeom prst="rect">
            <a:avLst/>
          </a:prstGeom>
          <a:noFill/>
          <a:ln/>
        </p:spPr>
        <p:txBody>
          <a:bodyPr wrap="square" rtlCol="0" anchor="ctr"/>
          <a:lstStyle/>
          <a:p>
            <a:pPr algn="r" indent="0" marL="0">
              <a:buNone/>
            </a:pPr>
            <a:r>
              <a:rPr lang="en-US" sz="900" spc="300" kern="0" dirty="0">
                <a:solidFill>
                  <a:srgbClr val="6B7689"/>
                </a:solidFill>
                <a:latin typeface="Inter" pitchFamily="34" charset="0"/>
                <a:ea typeface="Inter" pitchFamily="34" charset="-122"/>
                <a:cs typeface="Inter" pitchFamily="34" charset="-120"/>
              </a:rPr>
              <a:t>DAC #811 LOTO · OSHA 29 CFR 1910.147</a:t>
            </a:r>
            <a:endParaRPr lang="en-US" sz="900" dirty="0"/>
          </a:p>
        </p:txBody>
      </p:sp>
      <p:sp>
        <p:nvSpPr>
          <p:cNvPr id="5" name="Shape 3"/>
          <p:cNvSpPr/>
          <p:nvPr/>
        </p:nvSpPr>
        <p:spPr>
          <a:xfrm>
            <a:off x="457200" y="1417320"/>
            <a:ext cx="11247120" cy="1417320"/>
          </a:xfrm>
          <a:prstGeom prst="roundRect">
            <a:avLst>
              <a:gd name="adj" fmla="val 6452"/>
            </a:avLst>
          </a:prstGeom>
          <a:solidFill>
            <a:srgbClr val="152033"/>
          </a:solidFill>
          <a:ln w="9525">
            <a:solidFill>
              <a:srgbClr val="2C3853"/>
            </a:solidFill>
            <a:prstDash val="solid"/>
          </a:ln>
        </p:spPr>
      </p:sp>
      <p:sp>
        <p:nvSpPr>
          <p:cNvPr id="6" name="Shape 4"/>
          <p:cNvSpPr/>
          <p:nvPr/>
        </p:nvSpPr>
        <p:spPr>
          <a:xfrm>
            <a:off x="457200" y="1417320"/>
            <a:ext cx="91440" cy="1417320"/>
          </a:xfrm>
          <a:prstGeom prst="rect">
            <a:avLst/>
          </a:prstGeom>
          <a:solidFill>
            <a:srgbClr val="A6AFC2"/>
          </a:solidFill>
          <a:ln w="12700">
            <a:solidFill>
              <a:srgbClr val="A6AFC2"/>
            </a:solidFill>
            <a:prstDash val="solid"/>
          </a:ln>
        </p:spPr>
      </p:sp>
      <p:sp>
        <p:nvSpPr>
          <p:cNvPr id="7" name="Text 5"/>
          <p:cNvSpPr/>
          <p:nvPr/>
        </p:nvSpPr>
        <p:spPr>
          <a:xfrm>
            <a:off x="685800" y="1554480"/>
            <a:ext cx="1645920" cy="274320"/>
          </a:xfrm>
          <a:prstGeom prst="rect">
            <a:avLst/>
          </a:prstGeom>
          <a:noFill/>
          <a:ln/>
        </p:spPr>
        <p:txBody>
          <a:bodyPr wrap="square" rtlCol="0" anchor="t"/>
          <a:lstStyle/>
          <a:p>
            <a:pPr indent="0" marL="0">
              <a:buNone/>
            </a:pPr>
            <a:r>
              <a:rPr lang="en-US" sz="1000" b="1" spc="300" kern="0" dirty="0">
                <a:solidFill>
                  <a:srgbClr val="A6AFC2"/>
                </a:solidFill>
                <a:latin typeface="Inter" pitchFamily="34" charset="0"/>
                <a:ea typeface="Inter" pitchFamily="34" charset="-122"/>
                <a:cs typeface="Inter" pitchFamily="34" charset="-120"/>
              </a:rPr>
              <a:t>VISION</a:t>
            </a:r>
            <a:endParaRPr lang="en-US" sz="1000" dirty="0"/>
          </a:p>
        </p:txBody>
      </p:sp>
      <p:sp>
        <p:nvSpPr>
          <p:cNvPr id="8" name="Text 6"/>
          <p:cNvSpPr/>
          <p:nvPr/>
        </p:nvSpPr>
        <p:spPr>
          <a:xfrm>
            <a:off x="2377440" y="1536192"/>
            <a:ext cx="9052560" cy="1188720"/>
          </a:xfrm>
          <a:prstGeom prst="rect">
            <a:avLst/>
          </a:prstGeom>
          <a:noFill/>
          <a:ln/>
        </p:spPr>
        <p:txBody>
          <a:bodyPr wrap="square" rtlCol="0" anchor="t"/>
          <a:lstStyle/>
          <a:p>
            <a:pPr indent="0" marL="0">
              <a:buNone/>
            </a:pPr>
            <a:r>
              <a:rPr lang="en-US" sz="1150" dirty="0">
                <a:solidFill>
                  <a:srgbClr val="F5F1E8"/>
                </a:solidFill>
                <a:latin typeface="Inter" pitchFamily="34" charset="0"/>
                <a:ea typeface="Inter" pitchFamily="34" charset="-122"/>
                <a:cs typeface="Inter" pitchFamily="34" charset="-120"/>
              </a:rPr>
              <a:t>HUD: "Install a lockout hasp through the disconnect's lockout point. Photo close-up." Maya takes a lockout hasp (scissor-style metal device with multiple padlock holes), threads it through the lockout point, captures.</a:t>
            </a:r>
            <a:endParaRPr lang="en-US" sz="1150" dirty="0"/>
          </a:p>
        </p:txBody>
      </p:sp>
      <p:sp>
        <p:nvSpPr>
          <p:cNvPr id="9" name="Shape 7"/>
          <p:cNvSpPr/>
          <p:nvPr/>
        </p:nvSpPr>
        <p:spPr>
          <a:xfrm>
            <a:off x="457200" y="2907792"/>
            <a:ext cx="11247120" cy="2103120"/>
          </a:xfrm>
          <a:prstGeom prst="roundRect">
            <a:avLst>
              <a:gd name="adj" fmla="val 4348"/>
            </a:avLst>
          </a:prstGeom>
          <a:solidFill>
            <a:srgbClr val="152033"/>
          </a:solidFill>
          <a:ln w="9525">
            <a:solidFill>
              <a:srgbClr val="2C3853"/>
            </a:solidFill>
            <a:prstDash val="solid"/>
          </a:ln>
        </p:spPr>
      </p:sp>
      <p:sp>
        <p:nvSpPr>
          <p:cNvPr id="10" name="Shape 8"/>
          <p:cNvSpPr/>
          <p:nvPr/>
        </p:nvSpPr>
        <p:spPr>
          <a:xfrm>
            <a:off x="457200" y="2907792"/>
            <a:ext cx="91440" cy="2103120"/>
          </a:xfrm>
          <a:prstGeom prst="rect">
            <a:avLst/>
          </a:prstGeom>
          <a:solidFill>
            <a:srgbClr val="E07B47"/>
          </a:solidFill>
          <a:ln w="12700">
            <a:solidFill>
              <a:srgbClr val="E07B47"/>
            </a:solidFill>
            <a:prstDash val="solid"/>
          </a:ln>
        </p:spPr>
      </p:sp>
      <p:sp>
        <p:nvSpPr>
          <p:cNvPr id="11" name="Text 9"/>
          <p:cNvSpPr/>
          <p:nvPr/>
        </p:nvSpPr>
        <p:spPr>
          <a:xfrm>
            <a:off x="685800" y="3044952"/>
            <a:ext cx="1645920" cy="274320"/>
          </a:xfrm>
          <a:prstGeom prst="rect">
            <a:avLst/>
          </a:prstGeom>
          <a:noFill/>
          <a:ln/>
        </p:spPr>
        <p:txBody>
          <a:bodyPr wrap="square" rtlCol="0" anchor="t"/>
          <a:lstStyle/>
          <a:p>
            <a:pPr indent="0" marL="0">
              <a:buNone/>
            </a:pPr>
            <a:r>
              <a:rPr lang="en-US" sz="1000" b="1" spc="300" kern="0" dirty="0">
                <a:solidFill>
                  <a:srgbClr val="E07B47"/>
                </a:solidFill>
                <a:latin typeface="Inter" pitchFamily="34" charset="0"/>
                <a:ea typeface="Inter" pitchFamily="34" charset="-122"/>
                <a:cs typeface="Inter" pitchFamily="34" charset="-120"/>
              </a:rPr>
              <a:t>REALIZATION</a:t>
            </a:r>
            <a:endParaRPr lang="en-US" sz="1000" dirty="0"/>
          </a:p>
        </p:txBody>
      </p:sp>
      <p:sp>
        <p:nvSpPr>
          <p:cNvPr id="12" name="Text 10"/>
          <p:cNvSpPr/>
          <p:nvPr/>
        </p:nvSpPr>
        <p:spPr>
          <a:xfrm>
            <a:off x="2377440" y="3026664"/>
            <a:ext cx="9052560" cy="329184"/>
          </a:xfrm>
          <a:prstGeom prst="rect">
            <a:avLst/>
          </a:prstGeom>
          <a:noFill/>
          <a:ln/>
        </p:spPr>
        <p:txBody>
          <a:bodyPr wrap="square" rtlCol="0" anchor="t"/>
          <a:lstStyle/>
          <a:p>
            <a:pPr indent="0" marL="0">
              <a:buNone/>
            </a:pPr>
            <a:r>
              <a:rPr lang="en-US" sz="1100" dirty="0">
                <a:solidFill>
                  <a:srgbClr val="F5F1E8"/>
                </a:solidFill>
                <a:latin typeface="Inter" pitchFamily="34" charset="0"/>
                <a:ea typeface="Inter" pitchFamily="34" charset="-122"/>
                <a:cs typeface="Inter" pitchFamily="34" charset="-120"/>
              </a:rPr>
              <a:t>Photo flow. Claude verifies BOTH hasp presence AND that it physically blocks the handle from moving back to ON.</a:t>
            </a:r>
            <a:endParaRPr lang="en-US" sz="1100" dirty="0"/>
          </a:p>
        </p:txBody>
      </p:sp>
      <p:sp>
        <p:nvSpPr>
          <p:cNvPr id="13" name="Text 11"/>
          <p:cNvSpPr/>
          <p:nvPr/>
        </p:nvSpPr>
        <p:spPr>
          <a:xfrm>
            <a:off x="2377440" y="3374136"/>
            <a:ext cx="9052560" cy="329184"/>
          </a:xfrm>
          <a:prstGeom prst="rect">
            <a:avLst/>
          </a:prstGeom>
          <a:noFill/>
          <a:ln/>
        </p:spPr>
        <p:txBody>
          <a:bodyPr wrap="square" rtlCol="0" anchor="t"/>
          <a:lstStyle/>
          <a:p>
            <a:pPr indent="0" marL="0">
              <a:buNone/>
            </a:pPr>
            <a:r>
              <a:rPr lang="en-US" sz="1100" dirty="0">
                <a:solidFill>
                  <a:srgbClr val="F5F1E8"/>
                </a:solidFill>
                <a:latin typeface="Inter" pitchFamily="34" charset="0"/>
                <a:ea typeface="Inter" pitchFamily="34" charset="-122"/>
                <a:cs typeface="Inter" pitchFamily="34" charset="-120"/>
              </a:rPr>
              <a:t>Spatial reasoning: "the hasp physically blocks the handle" is assessed from a 2D photo. Claude Sonnet 4.6 calibrated reliable on this per colleague's calibration runs.</a:t>
            </a:r>
            <a:endParaRPr lang="en-US" sz="1100" dirty="0"/>
          </a:p>
        </p:txBody>
      </p:sp>
      <p:sp>
        <p:nvSpPr>
          <p:cNvPr id="14" name="Shape 12"/>
          <p:cNvSpPr/>
          <p:nvPr/>
        </p:nvSpPr>
        <p:spPr>
          <a:xfrm>
            <a:off x="457200" y="5084064"/>
            <a:ext cx="11247120" cy="1417320"/>
          </a:xfrm>
          <a:prstGeom prst="roundRect">
            <a:avLst>
              <a:gd name="adj" fmla="val 6452"/>
            </a:avLst>
          </a:prstGeom>
          <a:solidFill>
            <a:srgbClr val="152033"/>
          </a:solidFill>
          <a:ln w="9525">
            <a:solidFill>
              <a:srgbClr val="2C3853"/>
            </a:solidFill>
            <a:prstDash val="solid"/>
          </a:ln>
        </p:spPr>
      </p:sp>
      <p:sp>
        <p:nvSpPr>
          <p:cNvPr id="15" name="Shape 13"/>
          <p:cNvSpPr/>
          <p:nvPr/>
        </p:nvSpPr>
        <p:spPr>
          <a:xfrm>
            <a:off x="457200" y="5084064"/>
            <a:ext cx="91440" cy="1417320"/>
          </a:xfrm>
          <a:prstGeom prst="rect">
            <a:avLst/>
          </a:prstGeom>
          <a:solidFill>
            <a:srgbClr val="10B981"/>
          </a:solidFill>
          <a:ln w="12700">
            <a:solidFill>
              <a:srgbClr val="10B981"/>
            </a:solidFill>
            <a:prstDash val="solid"/>
          </a:ln>
        </p:spPr>
      </p:sp>
      <p:sp>
        <p:nvSpPr>
          <p:cNvPr id="16" name="Text 14"/>
          <p:cNvSpPr/>
          <p:nvPr/>
        </p:nvSpPr>
        <p:spPr>
          <a:xfrm>
            <a:off x="685800" y="5221224"/>
            <a:ext cx="1645920" cy="274320"/>
          </a:xfrm>
          <a:prstGeom prst="rect">
            <a:avLst/>
          </a:prstGeom>
          <a:noFill/>
          <a:ln/>
        </p:spPr>
        <p:txBody>
          <a:bodyPr wrap="square" rtlCol="0" anchor="t"/>
          <a:lstStyle/>
          <a:p>
            <a:pPr indent="0" marL="0">
              <a:buNone/>
            </a:pPr>
            <a:r>
              <a:rPr lang="en-US" sz="1000" b="1" spc="300" kern="0" dirty="0">
                <a:solidFill>
                  <a:srgbClr val="10B981"/>
                </a:solidFill>
                <a:latin typeface="Inter" pitchFamily="34" charset="0"/>
                <a:ea typeface="Inter" pitchFamily="34" charset="-122"/>
                <a:cs typeface="Inter" pitchFamily="34" charset="-120"/>
              </a:rPr>
              <a:t>DISCOVERIES</a:t>
            </a:r>
            <a:endParaRPr lang="en-US" sz="1000" dirty="0"/>
          </a:p>
        </p:txBody>
      </p:sp>
      <p:sp>
        <p:nvSpPr>
          <p:cNvPr id="17" name="Text 15"/>
          <p:cNvSpPr/>
          <p:nvPr/>
        </p:nvSpPr>
        <p:spPr>
          <a:xfrm>
            <a:off x="2377440" y="5202936"/>
            <a:ext cx="9052560" cy="329184"/>
          </a:xfrm>
          <a:prstGeom prst="rect">
            <a:avLst/>
          </a:prstGeom>
          <a:noFill/>
          <a:ln/>
        </p:spPr>
        <p:txBody>
          <a:bodyPr wrap="square" rtlCol="0" anchor="t"/>
          <a:lstStyle/>
          <a:p>
            <a:pPr indent="0" marL="0">
              <a:buNone/>
            </a:pPr>
            <a:r>
              <a:rPr lang="en-US" sz="1100" dirty="0">
                <a:solidFill>
                  <a:srgbClr val="F5F1E8"/>
                </a:solidFill>
                <a:latin typeface="Inter" pitchFamily="34" charset="0"/>
                <a:ea typeface="Inter" pitchFamily="34" charset="-122"/>
                <a:cs typeface="Inter" pitchFamily="34" charset="-120"/>
              </a:rPr>
              <a:t>Claude's spatial reasoning is good enough for "physical blocking" assessments — was uncertain at spec time, confirmed acceptable.</a:t>
            </a:r>
            <a:endParaRPr lang="en-US" sz="1100" dirty="0"/>
          </a:p>
        </p:txBody>
      </p:sp>
      <p:sp>
        <p:nvSpPr>
          <p:cNvPr id="18" name="Text 16"/>
          <p:cNvSpPr/>
          <p:nvPr/>
        </p:nvSpPr>
        <p:spPr>
          <a:xfrm>
            <a:off x="2377440" y="5550408"/>
            <a:ext cx="9052560" cy="329184"/>
          </a:xfrm>
          <a:prstGeom prst="rect">
            <a:avLst/>
          </a:prstGeom>
          <a:noFill/>
          <a:ln/>
        </p:spPr>
        <p:txBody>
          <a:bodyPr wrap="square" rtlCol="0" anchor="t"/>
          <a:lstStyle/>
          <a:p>
            <a:pPr indent="0" marL="0">
              <a:buNone/>
            </a:pPr>
            <a:r>
              <a:rPr lang="en-US" sz="1100" dirty="0">
                <a:solidFill>
                  <a:srgbClr val="F5F1E8"/>
                </a:solidFill>
                <a:latin typeface="Inter" pitchFamily="34" charset="0"/>
                <a:ea typeface="Inter" pitchFamily="34" charset="-122"/>
                <a:cs typeface="Inter" pitchFamily="34" charset="-120"/>
              </a:rPr>
              <a:t>Reference photo of correctly-installed hasp is shown via Neural Band swipe-right gesture if Maya needs a refresher mid-step.</a:t>
            </a:r>
            <a:endParaRPr lang="en-US" sz="1100" dirty="0"/>
          </a:p>
        </p:txBody>
      </p:sp>
      <p:sp>
        <p:nvSpPr>
          <p:cNvPr id="19" name="Text 17"/>
          <p:cNvSpPr/>
          <p:nvPr/>
        </p:nvSpPr>
        <p:spPr>
          <a:xfrm>
            <a:off x="457200" y="6565392"/>
            <a:ext cx="11247120" cy="228600"/>
          </a:xfrm>
          <a:prstGeom prst="rect">
            <a:avLst/>
          </a:prstGeom>
          <a:noFill/>
          <a:ln/>
        </p:spPr>
        <p:txBody>
          <a:bodyPr wrap="square" rtlCol="0" anchor="ctr"/>
          <a:lstStyle/>
          <a:p>
            <a:pPr indent="0" marL="0">
              <a:buNone/>
            </a:pPr>
            <a:r>
              <a:rPr lang="en-US" sz="800" spc="300" kern="0" dirty="0">
                <a:solidFill>
                  <a:srgbClr val="6B7689"/>
                </a:solidFill>
                <a:latin typeface="Inter" pitchFamily="34" charset="0"/>
                <a:ea typeface="Inter" pitchFamily="34" charset="-122"/>
                <a:cs typeface="Inter" pitchFamily="34" charset="-120"/>
              </a:rPr>
              <a:t>EON AI VENTURES · FIELD IQ · VISION TO REALIZATION · DAC #811 LOTO · 8 / 12</a:t>
            </a:r>
            <a:endParaRPr lang="en-US" sz="8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457200" y="320040"/>
            <a:ext cx="11247120" cy="274320"/>
          </a:xfrm>
          <a:prstGeom prst="rect">
            <a:avLst/>
          </a:prstGeom>
          <a:noFill/>
          <a:ln/>
        </p:spPr>
        <p:txBody>
          <a:bodyPr wrap="square" rtlCol="0" anchor="ctr"/>
          <a:lstStyle/>
          <a:p>
            <a:pPr indent="0" marL="0">
              <a:buNone/>
            </a:pPr>
            <a:r>
              <a:rPr lang="en-US" sz="1000" b="1" spc="400" kern="0" dirty="0">
                <a:solidFill>
                  <a:srgbClr val="E07B47"/>
                </a:solidFill>
                <a:latin typeface="Inter" pitchFamily="34" charset="0"/>
                <a:ea typeface="Inter" pitchFamily="34" charset="-122"/>
                <a:cs typeface="Inter" pitchFamily="34" charset="-120"/>
              </a:rPr>
              <a:t>STEP 7 OF 10 · APPLY PADLOCK</a:t>
            </a:r>
            <a:endParaRPr lang="en-US" sz="1000" dirty="0"/>
          </a:p>
        </p:txBody>
      </p:sp>
      <p:sp>
        <p:nvSpPr>
          <p:cNvPr id="3" name="Text 1"/>
          <p:cNvSpPr/>
          <p:nvPr/>
        </p:nvSpPr>
        <p:spPr>
          <a:xfrm>
            <a:off x="457200" y="640080"/>
            <a:ext cx="11247120" cy="594360"/>
          </a:xfrm>
          <a:prstGeom prst="rect">
            <a:avLst/>
          </a:prstGeom>
          <a:noFill/>
          <a:ln/>
        </p:spPr>
        <p:txBody>
          <a:bodyPr wrap="square" rtlCol="0" anchor="ctr"/>
          <a:lstStyle/>
          <a:p>
            <a:pPr indent="0" marL="0">
              <a:buNone/>
            </a:pPr>
            <a:r>
              <a:rPr lang="en-US" sz="2600" b="1" dirty="0">
                <a:solidFill>
                  <a:srgbClr val="F5F1E8"/>
                </a:solidFill>
                <a:latin typeface="Inter" pitchFamily="34" charset="0"/>
                <a:ea typeface="Inter" pitchFamily="34" charset="-122"/>
                <a:cs typeface="Inter" pitchFamily="34" charset="-120"/>
              </a:rPr>
              <a:t>Step 7 — Apply Personal Padlock</a:t>
            </a:r>
            <a:endParaRPr lang="en-US" sz="2600" dirty="0"/>
          </a:p>
        </p:txBody>
      </p:sp>
      <p:sp>
        <p:nvSpPr>
          <p:cNvPr id="4" name="Text 2"/>
          <p:cNvSpPr/>
          <p:nvPr/>
        </p:nvSpPr>
        <p:spPr>
          <a:xfrm>
            <a:off x="7772400" y="320040"/>
            <a:ext cx="3931920" cy="274320"/>
          </a:xfrm>
          <a:prstGeom prst="rect">
            <a:avLst/>
          </a:prstGeom>
          <a:noFill/>
          <a:ln/>
        </p:spPr>
        <p:txBody>
          <a:bodyPr wrap="square" rtlCol="0" anchor="ctr"/>
          <a:lstStyle/>
          <a:p>
            <a:pPr algn="r" indent="0" marL="0">
              <a:buNone/>
            </a:pPr>
            <a:r>
              <a:rPr lang="en-US" sz="900" spc="300" kern="0" dirty="0">
                <a:solidFill>
                  <a:srgbClr val="6B7689"/>
                </a:solidFill>
                <a:latin typeface="Inter" pitchFamily="34" charset="0"/>
                <a:ea typeface="Inter" pitchFamily="34" charset="-122"/>
                <a:cs typeface="Inter" pitchFamily="34" charset="-120"/>
              </a:rPr>
              <a:t>DAC #811 LOTO · OSHA 29 CFR 1910.147</a:t>
            </a:r>
            <a:endParaRPr lang="en-US" sz="900" dirty="0"/>
          </a:p>
        </p:txBody>
      </p:sp>
      <p:sp>
        <p:nvSpPr>
          <p:cNvPr id="5" name="Shape 3"/>
          <p:cNvSpPr/>
          <p:nvPr/>
        </p:nvSpPr>
        <p:spPr>
          <a:xfrm>
            <a:off x="457200" y="1417320"/>
            <a:ext cx="11247120" cy="1417320"/>
          </a:xfrm>
          <a:prstGeom prst="roundRect">
            <a:avLst>
              <a:gd name="adj" fmla="val 6452"/>
            </a:avLst>
          </a:prstGeom>
          <a:solidFill>
            <a:srgbClr val="152033"/>
          </a:solidFill>
          <a:ln w="9525">
            <a:solidFill>
              <a:srgbClr val="2C3853"/>
            </a:solidFill>
            <a:prstDash val="solid"/>
          </a:ln>
        </p:spPr>
      </p:sp>
      <p:sp>
        <p:nvSpPr>
          <p:cNvPr id="6" name="Shape 4"/>
          <p:cNvSpPr/>
          <p:nvPr/>
        </p:nvSpPr>
        <p:spPr>
          <a:xfrm>
            <a:off x="457200" y="1417320"/>
            <a:ext cx="91440" cy="1417320"/>
          </a:xfrm>
          <a:prstGeom prst="rect">
            <a:avLst/>
          </a:prstGeom>
          <a:solidFill>
            <a:srgbClr val="A6AFC2"/>
          </a:solidFill>
          <a:ln w="12700">
            <a:solidFill>
              <a:srgbClr val="A6AFC2"/>
            </a:solidFill>
            <a:prstDash val="solid"/>
          </a:ln>
        </p:spPr>
      </p:sp>
      <p:sp>
        <p:nvSpPr>
          <p:cNvPr id="7" name="Text 5"/>
          <p:cNvSpPr/>
          <p:nvPr/>
        </p:nvSpPr>
        <p:spPr>
          <a:xfrm>
            <a:off x="685800" y="1554480"/>
            <a:ext cx="1645920" cy="274320"/>
          </a:xfrm>
          <a:prstGeom prst="rect">
            <a:avLst/>
          </a:prstGeom>
          <a:noFill/>
          <a:ln/>
        </p:spPr>
        <p:txBody>
          <a:bodyPr wrap="square" rtlCol="0" anchor="t"/>
          <a:lstStyle/>
          <a:p>
            <a:pPr indent="0" marL="0">
              <a:buNone/>
            </a:pPr>
            <a:r>
              <a:rPr lang="en-US" sz="1000" b="1" spc="300" kern="0" dirty="0">
                <a:solidFill>
                  <a:srgbClr val="A6AFC2"/>
                </a:solidFill>
                <a:latin typeface="Inter" pitchFamily="34" charset="0"/>
                <a:ea typeface="Inter" pitchFamily="34" charset="-122"/>
                <a:cs typeface="Inter" pitchFamily="34" charset="-120"/>
              </a:rPr>
              <a:t>VISION</a:t>
            </a:r>
            <a:endParaRPr lang="en-US" sz="1000" dirty="0"/>
          </a:p>
        </p:txBody>
      </p:sp>
      <p:sp>
        <p:nvSpPr>
          <p:cNvPr id="8" name="Text 6"/>
          <p:cNvSpPr/>
          <p:nvPr/>
        </p:nvSpPr>
        <p:spPr>
          <a:xfrm>
            <a:off x="2377440" y="1536192"/>
            <a:ext cx="9052560" cy="1188720"/>
          </a:xfrm>
          <a:prstGeom prst="rect">
            <a:avLst/>
          </a:prstGeom>
          <a:noFill/>
          <a:ln/>
        </p:spPr>
        <p:txBody>
          <a:bodyPr wrap="square" rtlCol="0" anchor="t"/>
          <a:lstStyle/>
          <a:p>
            <a:pPr indent="0" marL="0">
              <a:buNone/>
            </a:pPr>
            <a:r>
              <a:rPr lang="en-US" sz="1150" dirty="0">
                <a:solidFill>
                  <a:srgbClr val="F5F1E8"/>
                </a:solidFill>
                <a:latin typeface="Inter" pitchFamily="34" charset="0"/>
                <a:ea typeface="Inter" pitchFamily="34" charset="-122"/>
                <a:cs typeface="Inter" pitchFamily="34" charset="-120"/>
              </a:rPr>
              <a:t>HUD: "Lock your personal padlock through the hasp. Photo close-up." Maya takes her personal padlock (orange — her training-bay color code), threads the shackle through a hasp hole, clicks it closed, photos close-up.</a:t>
            </a:r>
            <a:endParaRPr lang="en-US" sz="1150" dirty="0"/>
          </a:p>
        </p:txBody>
      </p:sp>
      <p:sp>
        <p:nvSpPr>
          <p:cNvPr id="9" name="Shape 7"/>
          <p:cNvSpPr/>
          <p:nvPr/>
        </p:nvSpPr>
        <p:spPr>
          <a:xfrm>
            <a:off x="457200" y="2907792"/>
            <a:ext cx="11247120" cy="2103120"/>
          </a:xfrm>
          <a:prstGeom prst="roundRect">
            <a:avLst>
              <a:gd name="adj" fmla="val 4348"/>
            </a:avLst>
          </a:prstGeom>
          <a:solidFill>
            <a:srgbClr val="152033"/>
          </a:solidFill>
          <a:ln w="9525">
            <a:solidFill>
              <a:srgbClr val="2C3853"/>
            </a:solidFill>
            <a:prstDash val="solid"/>
          </a:ln>
        </p:spPr>
      </p:sp>
      <p:sp>
        <p:nvSpPr>
          <p:cNvPr id="10" name="Shape 8"/>
          <p:cNvSpPr/>
          <p:nvPr/>
        </p:nvSpPr>
        <p:spPr>
          <a:xfrm>
            <a:off x="457200" y="2907792"/>
            <a:ext cx="91440" cy="2103120"/>
          </a:xfrm>
          <a:prstGeom prst="rect">
            <a:avLst/>
          </a:prstGeom>
          <a:solidFill>
            <a:srgbClr val="E07B47"/>
          </a:solidFill>
          <a:ln w="12700">
            <a:solidFill>
              <a:srgbClr val="E07B47"/>
            </a:solidFill>
            <a:prstDash val="solid"/>
          </a:ln>
        </p:spPr>
      </p:sp>
      <p:sp>
        <p:nvSpPr>
          <p:cNvPr id="11" name="Text 9"/>
          <p:cNvSpPr/>
          <p:nvPr/>
        </p:nvSpPr>
        <p:spPr>
          <a:xfrm>
            <a:off x="685800" y="3044952"/>
            <a:ext cx="1645920" cy="274320"/>
          </a:xfrm>
          <a:prstGeom prst="rect">
            <a:avLst/>
          </a:prstGeom>
          <a:noFill/>
          <a:ln/>
        </p:spPr>
        <p:txBody>
          <a:bodyPr wrap="square" rtlCol="0" anchor="t"/>
          <a:lstStyle/>
          <a:p>
            <a:pPr indent="0" marL="0">
              <a:buNone/>
            </a:pPr>
            <a:r>
              <a:rPr lang="en-US" sz="1000" b="1" spc="300" kern="0" dirty="0">
                <a:solidFill>
                  <a:srgbClr val="E07B47"/>
                </a:solidFill>
                <a:latin typeface="Inter" pitchFamily="34" charset="0"/>
                <a:ea typeface="Inter" pitchFamily="34" charset="-122"/>
                <a:cs typeface="Inter" pitchFamily="34" charset="-120"/>
              </a:rPr>
              <a:t>REALIZATION</a:t>
            </a:r>
            <a:endParaRPr lang="en-US" sz="1000" dirty="0"/>
          </a:p>
        </p:txBody>
      </p:sp>
      <p:sp>
        <p:nvSpPr>
          <p:cNvPr id="12" name="Text 10"/>
          <p:cNvSpPr/>
          <p:nvPr/>
        </p:nvSpPr>
        <p:spPr>
          <a:xfrm>
            <a:off x="2377440" y="3026664"/>
            <a:ext cx="9052560" cy="329184"/>
          </a:xfrm>
          <a:prstGeom prst="rect">
            <a:avLst/>
          </a:prstGeom>
          <a:noFill/>
          <a:ln/>
        </p:spPr>
        <p:txBody>
          <a:bodyPr wrap="square" rtlCol="0" anchor="t"/>
          <a:lstStyle/>
          <a:p>
            <a:pPr indent="0" marL="0">
              <a:buNone/>
            </a:pPr>
            <a:r>
              <a:rPr lang="en-US" sz="1100" dirty="0">
                <a:solidFill>
                  <a:srgbClr val="F5F1E8"/>
                </a:solidFill>
                <a:latin typeface="Inter" pitchFamily="34" charset="0"/>
                <a:ea typeface="Inter" pitchFamily="34" charset="-122"/>
                <a:cs typeface="Inter" pitchFamily="34" charset="-120"/>
              </a:rPr>
              <a:t>Photo flow. Claude verifies padlock visible AND shackle fully closed/engaged through a hasp hole (not open, not merely hanging).</a:t>
            </a:r>
            <a:endParaRPr lang="en-US" sz="1100" dirty="0"/>
          </a:p>
        </p:txBody>
      </p:sp>
      <p:sp>
        <p:nvSpPr>
          <p:cNvPr id="13" name="Text 11"/>
          <p:cNvSpPr/>
          <p:nvPr/>
        </p:nvSpPr>
        <p:spPr>
          <a:xfrm>
            <a:off x="2377440" y="3374136"/>
            <a:ext cx="9052560" cy="329184"/>
          </a:xfrm>
          <a:prstGeom prst="rect">
            <a:avLst/>
          </a:prstGeom>
          <a:noFill/>
          <a:ln/>
        </p:spPr>
        <p:txBody>
          <a:bodyPr wrap="square" rtlCol="0" anchor="t"/>
          <a:lstStyle/>
          <a:p>
            <a:pPr indent="0" marL="0">
              <a:buNone/>
            </a:pPr>
            <a:r>
              <a:rPr lang="en-US" sz="1100" dirty="0">
                <a:solidFill>
                  <a:srgbClr val="F5F1E8"/>
                </a:solidFill>
                <a:latin typeface="Inter" pitchFamily="34" charset="0"/>
                <a:ea typeface="Inter" pitchFamily="34" charset="-122"/>
                <a:cs typeface="Inter" pitchFamily="34" charset="-120"/>
              </a:rPr>
              <a:t>Engagement check is critical: a padlock that's threaded but not clicked closed defeats the entire LOTO.</a:t>
            </a:r>
            <a:endParaRPr lang="en-US" sz="1100" dirty="0"/>
          </a:p>
        </p:txBody>
      </p:sp>
      <p:sp>
        <p:nvSpPr>
          <p:cNvPr id="14" name="Shape 12"/>
          <p:cNvSpPr/>
          <p:nvPr/>
        </p:nvSpPr>
        <p:spPr>
          <a:xfrm>
            <a:off x="457200" y="5084064"/>
            <a:ext cx="11247120" cy="1417320"/>
          </a:xfrm>
          <a:prstGeom prst="roundRect">
            <a:avLst>
              <a:gd name="adj" fmla="val 6452"/>
            </a:avLst>
          </a:prstGeom>
          <a:solidFill>
            <a:srgbClr val="152033"/>
          </a:solidFill>
          <a:ln w="9525">
            <a:solidFill>
              <a:srgbClr val="2C3853"/>
            </a:solidFill>
            <a:prstDash val="solid"/>
          </a:ln>
        </p:spPr>
      </p:sp>
      <p:sp>
        <p:nvSpPr>
          <p:cNvPr id="15" name="Shape 13"/>
          <p:cNvSpPr/>
          <p:nvPr/>
        </p:nvSpPr>
        <p:spPr>
          <a:xfrm>
            <a:off x="457200" y="5084064"/>
            <a:ext cx="91440" cy="1417320"/>
          </a:xfrm>
          <a:prstGeom prst="rect">
            <a:avLst/>
          </a:prstGeom>
          <a:solidFill>
            <a:srgbClr val="10B981"/>
          </a:solidFill>
          <a:ln w="12700">
            <a:solidFill>
              <a:srgbClr val="10B981"/>
            </a:solidFill>
            <a:prstDash val="solid"/>
          </a:ln>
        </p:spPr>
      </p:sp>
      <p:sp>
        <p:nvSpPr>
          <p:cNvPr id="16" name="Text 14"/>
          <p:cNvSpPr/>
          <p:nvPr/>
        </p:nvSpPr>
        <p:spPr>
          <a:xfrm>
            <a:off x="685800" y="5221224"/>
            <a:ext cx="1645920" cy="274320"/>
          </a:xfrm>
          <a:prstGeom prst="rect">
            <a:avLst/>
          </a:prstGeom>
          <a:noFill/>
          <a:ln/>
        </p:spPr>
        <p:txBody>
          <a:bodyPr wrap="square" rtlCol="0" anchor="t"/>
          <a:lstStyle/>
          <a:p>
            <a:pPr indent="0" marL="0">
              <a:buNone/>
            </a:pPr>
            <a:r>
              <a:rPr lang="en-US" sz="1000" b="1" spc="300" kern="0" dirty="0">
                <a:solidFill>
                  <a:srgbClr val="10B981"/>
                </a:solidFill>
                <a:latin typeface="Inter" pitchFamily="34" charset="0"/>
                <a:ea typeface="Inter" pitchFamily="34" charset="-122"/>
                <a:cs typeface="Inter" pitchFamily="34" charset="-120"/>
              </a:rPr>
              <a:t>DISCOVERIES</a:t>
            </a:r>
            <a:endParaRPr lang="en-US" sz="1000" dirty="0"/>
          </a:p>
        </p:txBody>
      </p:sp>
      <p:sp>
        <p:nvSpPr>
          <p:cNvPr id="17" name="Text 15"/>
          <p:cNvSpPr/>
          <p:nvPr/>
        </p:nvSpPr>
        <p:spPr>
          <a:xfrm>
            <a:off x="2377440" y="5202936"/>
            <a:ext cx="9052560" cy="329184"/>
          </a:xfrm>
          <a:prstGeom prst="rect">
            <a:avLst/>
          </a:prstGeom>
          <a:noFill/>
          <a:ln/>
        </p:spPr>
        <p:txBody>
          <a:bodyPr wrap="square" rtlCol="0" anchor="t"/>
          <a:lstStyle/>
          <a:p>
            <a:pPr indent="0" marL="0">
              <a:buNone/>
            </a:pPr>
            <a:r>
              <a:rPr lang="en-US" sz="1100" dirty="0">
                <a:solidFill>
                  <a:srgbClr val="F5F1E8"/>
                </a:solidFill>
                <a:latin typeface="Inter" pitchFamily="34" charset="0"/>
                <a:ea typeface="Inter" pitchFamily="34" charset="-122"/>
                <a:cs typeface="Inter" pitchFamily="34" charset="-120"/>
              </a:rPr>
              <a:t>Phase 2 enhancement: register each technician's personal padlock COLOR in the user record. Claude verifies the *correct* color padlock is being applied — catches the case where Maya grabs Carlos's padlock by mistake.</a:t>
            </a:r>
            <a:endParaRPr lang="en-US" sz="1100" dirty="0"/>
          </a:p>
        </p:txBody>
      </p:sp>
      <p:sp>
        <p:nvSpPr>
          <p:cNvPr id="18" name="Text 16"/>
          <p:cNvSpPr/>
          <p:nvPr/>
        </p:nvSpPr>
        <p:spPr>
          <a:xfrm>
            <a:off x="2377440" y="5550408"/>
            <a:ext cx="9052560" cy="329184"/>
          </a:xfrm>
          <a:prstGeom prst="rect">
            <a:avLst/>
          </a:prstGeom>
          <a:noFill/>
          <a:ln/>
        </p:spPr>
        <p:txBody>
          <a:bodyPr wrap="square" rtlCol="0" anchor="t"/>
          <a:lstStyle/>
          <a:p>
            <a:pPr indent="0" marL="0">
              <a:buNone/>
            </a:pPr>
            <a:r>
              <a:rPr lang="en-US" sz="1100" dirty="0">
                <a:solidFill>
                  <a:srgbClr val="F5F1E8"/>
                </a:solidFill>
                <a:latin typeface="Inter" pitchFamily="34" charset="0"/>
                <a:ea typeface="Inter" pitchFamily="34" charset="-122"/>
                <a:cs typeface="Inter" pitchFamily="34" charset="-120"/>
              </a:rPr>
              <a:t>Phase 2 could also support multi-padlock group LOTO (multiple workers locking the same equipment) by enumerating all expected padlock colors.</a:t>
            </a:r>
            <a:endParaRPr lang="en-US" sz="1100" dirty="0"/>
          </a:p>
        </p:txBody>
      </p:sp>
      <p:sp>
        <p:nvSpPr>
          <p:cNvPr id="19" name="Text 17"/>
          <p:cNvSpPr/>
          <p:nvPr/>
        </p:nvSpPr>
        <p:spPr>
          <a:xfrm>
            <a:off x="457200" y="6565392"/>
            <a:ext cx="11247120" cy="228600"/>
          </a:xfrm>
          <a:prstGeom prst="rect">
            <a:avLst/>
          </a:prstGeom>
          <a:noFill/>
          <a:ln/>
        </p:spPr>
        <p:txBody>
          <a:bodyPr wrap="square" rtlCol="0" anchor="ctr"/>
          <a:lstStyle/>
          <a:p>
            <a:pPr indent="0" marL="0">
              <a:buNone/>
            </a:pPr>
            <a:r>
              <a:rPr lang="en-US" sz="800" spc="300" kern="0" dirty="0">
                <a:solidFill>
                  <a:srgbClr val="6B7689"/>
                </a:solidFill>
                <a:latin typeface="Inter" pitchFamily="34" charset="0"/>
                <a:ea typeface="Inter" pitchFamily="34" charset="-122"/>
                <a:cs typeface="Inter" pitchFamily="34" charset="-120"/>
              </a:rPr>
              <a:t>EON AI VENTURES · FIELD IQ · VISION TO REALIZATION · DAC #811 LOTO · 9 / 12</a:t>
            </a:r>
            <a:endParaRPr lang="en-US" sz="8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457200" y="320040"/>
            <a:ext cx="11247120" cy="274320"/>
          </a:xfrm>
          <a:prstGeom prst="rect">
            <a:avLst/>
          </a:prstGeom>
          <a:noFill/>
          <a:ln/>
        </p:spPr>
        <p:txBody>
          <a:bodyPr wrap="square" rtlCol="0" anchor="ctr"/>
          <a:lstStyle/>
          <a:p>
            <a:pPr indent="0" marL="0">
              <a:buNone/>
            </a:pPr>
            <a:r>
              <a:rPr lang="en-US" sz="1000" b="1" spc="400" kern="0" dirty="0">
                <a:solidFill>
                  <a:srgbClr val="E07B47"/>
                </a:solidFill>
                <a:latin typeface="Inter" pitchFamily="34" charset="0"/>
                <a:ea typeface="Inter" pitchFamily="34" charset="-122"/>
                <a:cs typeface="Inter" pitchFamily="34" charset="-120"/>
              </a:rPr>
              <a:t>STEP 8 OF 10 · CLOSE BALL VALVE</a:t>
            </a:r>
            <a:endParaRPr lang="en-US" sz="1000" dirty="0"/>
          </a:p>
        </p:txBody>
      </p:sp>
      <p:sp>
        <p:nvSpPr>
          <p:cNvPr id="3" name="Text 1"/>
          <p:cNvSpPr/>
          <p:nvPr/>
        </p:nvSpPr>
        <p:spPr>
          <a:xfrm>
            <a:off x="457200" y="640080"/>
            <a:ext cx="11247120" cy="594360"/>
          </a:xfrm>
          <a:prstGeom prst="rect">
            <a:avLst/>
          </a:prstGeom>
          <a:noFill/>
          <a:ln/>
        </p:spPr>
        <p:txBody>
          <a:bodyPr wrap="square" rtlCol="0" anchor="ctr"/>
          <a:lstStyle/>
          <a:p>
            <a:pPr indent="0" marL="0">
              <a:buNone/>
            </a:pPr>
            <a:r>
              <a:rPr lang="en-US" sz="2600" b="1" dirty="0">
                <a:solidFill>
                  <a:srgbClr val="F5F1E8"/>
                </a:solidFill>
                <a:latin typeface="Inter" pitchFamily="34" charset="0"/>
                <a:ea typeface="Inter" pitchFamily="34" charset="-122"/>
                <a:cs typeface="Inter" pitchFamily="34" charset="-120"/>
              </a:rPr>
              <a:t>Step 8 — Close Ball Valve (isolate fluid energy)</a:t>
            </a:r>
            <a:endParaRPr lang="en-US" sz="2600" dirty="0"/>
          </a:p>
        </p:txBody>
      </p:sp>
      <p:sp>
        <p:nvSpPr>
          <p:cNvPr id="4" name="Text 2"/>
          <p:cNvSpPr/>
          <p:nvPr/>
        </p:nvSpPr>
        <p:spPr>
          <a:xfrm>
            <a:off x="7772400" y="320040"/>
            <a:ext cx="3931920" cy="274320"/>
          </a:xfrm>
          <a:prstGeom prst="rect">
            <a:avLst/>
          </a:prstGeom>
          <a:noFill/>
          <a:ln/>
        </p:spPr>
        <p:txBody>
          <a:bodyPr wrap="square" rtlCol="0" anchor="ctr"/>
          <a:lstStyle/>
          <a:p>
            <a:pPr algn="r" indent="0" marL="0">
              <a:buNone/>
            </a:pPr>
            <a:r>
              <a:rPr lang="en-US" sz="900" spc="300" kern="0" dirty="0">
                <a:solidFill>
                  <a:srgbClr val="6B7689"/>
                </a:solidFill>
                <a:latin typeface="Inter" pitchFamily="34" charset="0"/>
                <a:ea typeface="Inter" pitchFamily="34" charset="-122"/>
                <a:cs typeface="Inter" pitchFamily="34" charset="-120"/>
              </a:rPr>
              <a:t>DAC #811 LOTO · OSHA 29 CFR 1910.147</a:t>
            </a:r>
            <a:endParaRPr lang="en-US" sz="900" dirty="0"/>
          </a:p>
        </p:txBody>
      </p:sp>
      <p:sp>
        <p:nvSpPr>
          <p:cNvPr id="5" name="Shape 3"/>
          <p:cNvSpPr/>
          <p:nvPr/>
        </p:nvSpPr>
        <p:spPr>
          <a:xfrm>
            <a:off x="457200" y="1417320"/>
            <a:ext cx="11247120" cy="1417320"/>
          </a:xfrm>
          <a:prstGeom prst="roundRect">
            <a:avLst>
              <a:gd name="adj" fmla="val 6452"/>
            </a:avLst>
          </a:prstGeom>
          <a:solidFill>
            <a:srgbClr val="152033"/>
          </a:solidFill>
          <a:ln w="9525">
            <a:solidFill>
              <a:srgbClr val="2C3853"/>
            </a:solidFill>
            <a:prstDash val="solid"/>
          </a:ln>
        </p:spPr>
      </p:sp>
      <p:sp>
        <p:nvSpPr>
          <p:cNvPr id="6" name="Shape 4"/>
          <p:cNvSpPr/>
          <p:nvPr/>
        </p:nvSpPr>
        <p:spPr>
          <a:xfrm>
            <a:off x="457200" y="1417320"/>
            <a:ext cx="91440" cy="1417320"/>
          </a:xfrm>
          <a:prstGeom prst="rect">
            <a:avLst/>
          </a:prstGeom>
          <a:solidFill>
            <a:srgbClr val="A6AFC2"/>
          </a:solidFill>
          <a:ln w="12700">
            <a:solidFill>
              <a:srgbClr val="A6AFC2"/>
            </a:solidFill>
            <a:prstDash val="solid"/>
          </a:ln>
        </p:spPr>
      </p:sp>
      <p:sp>
        <p:nvSpPr>
          <p:cNvPr id="7" name="Text 5"/>
          <p:cNvSpPr/>
          <p:nvPr/>
        </p:nvSpPr>
        <p:spPr>
          <a:xfrm>
            <a:off x="685800" y="1554480"/>
            <a:ext cx="1645920" cy="274320"/>
          </a:xfrm>
          <a:prstGeom prst="rect">
            <a:avLst/>
          </a:prstGeom>
          <a:noFill/>
          <a:ln/>
        </p:spPr>
        <p:txBody>
          <a:bodyPr wrap="square" rtlCol="0" anchor="t"/>
          <a:lstStyle/>
          <a:p>
            <a:pPr indent="0" marL="0">
              <a:buNone/>
            </a:pPr>
            <a:r>
              <a:rPr lang="en-US" sz="1000" b="1" spc="300" kern="0" dirty="0">
                <a:solidFill>
                  <a:srgbClr val="A6AFC2"/>
                </a:solidFill>
                <a:latin typeface="Inter" pitchFamily="34" charset="0"/>
                <a:ea typeface="Inter" pitchFamily="34" charset="-122"/>
                <a:cs typeface="Inter" pitchFamily="34" charset="-120"/>
              </a:rPr>
              <a:t>VISION</a:t>
            </a:r>
            <a:endParaRPr lang="en-US" sz="1000" dirty="0"/>
          </a:p>
        </p:txBody>
      </p:sp>
      <p:sp>
        <p:nvSpPr>
          <p:cNvPr id="8" name="Text 6"/>
          <p:cNvSpPr/>
          <p:nvPr/>
        </p:nvSpPr>
        <p:spPr>
          <a:xfrm>
            <a:off x="2377440" y="1536192"/>
            <a:ext cx="9052560" cy="1188720"/>
          </a:xfrm>
          <a:prstGeom prst="rect">
            <a:avLst/>
          </a:prstGeom>
          <a:noFill/>
          <a:ln/>
        </p:spPr>
        <p:txBody>
          <a:bodyPr wrap="square" rtlCol="0" anchor="t"/>
          <a:lstStyle/>
          <a:p>
            <a:pPr indent="0" marL="0">
              <a:buNone/>
            </a:pPr>
            <a:r>
              <a:rPr lang="en-US" sz="1150" dirty="0">
                <a:solidFill>
                  <a:srgbClr val="F5F1E8"/>
                </a:solidFill>
                <a:latin typeface="Inter" pitchFamily="34" charset="0"/>
                <a:ea typeface="Inter" pitchFamily="34" charset="-122"/>
                <a:cs typeface="Inter" pitchFamily="34" charset="-120"/>
              </a:rPr>
              <a:t>HUD: "Turn the three-way ball valve handle 90° to CLOSED (perpendicular to pipe). Photo close-up." Maya rotates the colored handle of the three-way ball valve perpendicular to the pipe axis — universal closed position — and captures.</a:t>
            </a:r>
            <a:endParaRPr lang="en-US" sz="1150" dirty="0"/>
          </a:p>
        </p:txBody>
      </p:sp>
      <p:sp>
        <p:nvSpPr>
          <p:cNvPr id="9" name="Shape 7"/>
          <p:cNvSpPr/>
          <p:nvPr/>
        </p:nvSpPr>
        <p:spPr>
          <a:xfrm>
            <a:off x="457200" y="2907792"/>
            <a:ext cx="11247120" cy="2103120"/>
          </a:xfrm>
          <a:prstGeom prst="roundRect">
            <a:avLst>
              <a:gd name="adj" fmla="val 4348"/>
            </a:avLst>
          </a:prstGeom>
          <a:solidFill>
            <a:srgbClr val="152033"/>
          </a:solidFill>
          <a:ln w="9525">
            <a:solidFill>
              <a:srgbClr val="2C3853"/>
            </a:solidFill>
            <a:prstDash val="solid"/>
          </a:ln>
        </p:spPr>
      </p:sp>
      <p:sp>
        <p:nvSpPr>
          <p:cNvPr id="10" name="Shape 8"/>
          <p:cNvSpPr/>
          <p:nvPr/>
        </p:nvSpPr>
        <p:spPr>
          <a:xfrm>
            <a:off x="457200" y="2907792"/>
            <a:ext cx="91440" cy="2103120"/>
          </a:xfrm>
          <a:prstGeom prst="rect">
            <a:avLst/>
          </a:prstGeom>
          <a:solidFill>
            <a:srgbClr val="E07B47"/>
          </a:solidFill>
          <a:ln w="12700">
            <a:solidFill>
              <a:srgbClr val="E07B47"/>
            </a:solidFill>
            <a:prstDash val="solid"/>
          </a:ln>
        </p:spPr>
      </p:sp>
      <p:sp>
        <p:nvSpPr>
          <p:cNvPr id="11" name="Text 9"/>
          <p:cNvSpPr/>
          <p:nvPr/>
        </p:nvSpPr>
        <p:spPr>
          <a:xfrm>
            <a:off x="685800" y="3044952"/>
            <a:ext cx="1645920" cy="274320"/>
          </a:xfrm>
          <a:prstGeom prst="rect">
            <a:avLst/>
          </a:prstGeom>
          <a:noFill/>
          <a:ln/>
        </p:spPr>
        <p:txBody>
          <a:bodyPr wrap="square" rtlCol="0" anchor="t"/>
          <a:lstStyle/>
          <a:p>
            <a:pPr indent="0" marL="0">
              <a:buNone/>
            </a:pPr>
            <a:r>
              <a:rPr lang="en-US" sz="1000" b="1" spc="300" kern="0" dirty="0">
                <a:solidFill>
                  <a:srgbClr val="E07B47"/>
                </a:solidFill>
                <a:latin typeface="Inter" pitchFamily="34" charset="0"/>
                <a:ea typeface="Inter" pitchFamily="34" charset="-122"/>
                <a:cs typeface="Inter" pitchFamily="34" charset="-120"/>
              </a:rPr>
              <a:t>REALIZATION</a:t>
            </a:r>
            <a:endParaRPr lang="en-US" sz="1000" dirty="0"/>
          </a:p>
        </p:txBody>
      </p:sp>
      <p:sp>
        <p:nvSpPr>
          <p:cNvPr id="12" name="Text 10"/>
          <p:cNvSpPr/>
          <p:nvPr/>
        </p:nvSpPr>
        <p:spPr>
          <a:xfrm>
            <a:off x="2377440" y="3026664"/>
            <a:ext cx="9052560" cy="329184"/>
          </a:xfrm>
          <a:prstGeom prst="rect">
            <a:avLst/>
          </a:prstGeom>
          <a:noFill/>
          <a:ln/>
        </p:spPr>
        <p:txBody>
          <a:bodyPr wrap="square" rtlCol="0" anchor="t"/>
          <a:lstStyle/>
          <a:p>
            <a:pPr indent="0" marL="0">
              <a:buNone/>
            </a:pPr>
            <a:r>
              <a:rPr lang="en-US" sz="1100" dirty="0">
                <a:solidFill>
                  <a:srgbClr val="F5F1E8"/>
                </a:solidFill>
                <a:latin typeface="Inter" pitchFamily="34" charset="0"/>
                <a:ea typeface="Inter" pitchFamily="34" charset="-122"/>
                <a:cs typeface="Inter" pitchFamily="34" charset="-120"/>
              </a:rPr>
              <a:t>Photo flow. Claude verifies handle orientation relative to pipe axis (perpendicular = closed). Prompt explicitly fails on intermediate or unclear angles.</a:t>
            </a:r>
            <a:endParaRPr lang="en-US" sz="1100" dirty="0"/>
          </a:p>
        </p:txBody>
      </p:sp>
      <p:sp>
        <p:nvSpPr>
          <p:cNvPr id="13" name="Text 11"/>
          <p:cNvSpPr/>
          <p:nvPr/>
        </p:nvSpPr>
        <p:spPr>
          <a:xfrm>
            <a:off x="2377440" y="3374136"/>
            <a:ext cx="9052560" cy="329184"/>
          </a:xfrm>
          <a:prstGeom prst="rect">
            <a:avLst/>
          </a:prstGeom>
          <a:noFill/>
          <a:ln/>
        </p:spPr>
        <p:txBody>
          <a:bodyPr wrap="square" rtlCol="0" anchor="t"/>
          <a:lstStyle/>
          <a:p>
            <a:pPr indent="0" marL="0">
              <a:buNone/>
            </a:pPr>
            <a:r>
              <a:rPr lang="en-US" sz="1100" dirty="0">
                <a:solidFill>
                  <a:srgbClr val="F5F1E8"/>
                </a:solidFill>
                <a:latin typeface="Inter" pitchFamily="34" charset="0"/>
                <a:ea typeface="Inter" pitchFamily="34" charset="-122"/>
                <a:cs typeface="Inter" pitchFamily="34" charset="-120"/>
              </a:rPr>
              <a:t>Tap-to-view-reference: Neural Band swipe pulls up ref_step08_valve.jpg on the HUD if Maya is unsure.</a:t>
            </a:r>
            <a:endParaRPr lang="en-US" sz="1100" dirty="0"/>
          </a:p>
        </p:txBody>
      </p:sp>
      <p:sp>
        <p:nvSpPr>
          <p:cNvPr id="14" name="Shape 12"/>
          <p:cNvSpPr/>
          <p:nvPr/>
        </p:nvSpPr>
        <p:spPr>
          <a:xfrm>
            <a:off x="457200" y="5084064"/>
            <a:ext cx="11247120" cy="1417320"/>
          </a:xfrm>
          <a:prstGeom prst="roundRect">
            <a:avLst>
              <a:gd name="adj" fmla="val 6452"/>
            </a:avLst>
          </a:prstGeom>
          <a:solidFill>
            <a:srgbClr val="152033"/>
          </a:solidFill>
          <a:ln w="9525">
            <a:solidFill>
              <a:srgbClr val="2C3853"/>
            </a:solidFill>
            <a:prstDash val="solid"/>
          </a:ln>
        </p:spPr>
      </p:sp>
      <p:sp>
        <p:nvSpPr>
          <p:cNvPr id="15" name="Shape 13"/>
          <p:cNvSpPr/>
          <p:nvPr/>
        </p:nvSpPr>
        <p:spPr>
          <a:xfrm>
            <a:off x="457200" y="5084064"/>
            <a:ext cx="91440" cy="1417320"/>
          </a:xfrm>
          <a:prstGeom prst="rect">
            <a:avLst/>
          </a:prstGeom>
          <a:solidFill>
            <a:srgbClr val="10B981"/>
          </a:solidFill>
          <a:ln w="12700">
            <a:solidFill>
              <a:srgbClr val="10B981"/>
            </a:solidFill>
            <a:prstDash val="solid"/>
          </a:ln>
        </p:spPr>
      </p:sp>
      <p:sp>
        <p:nvSpPr>
          <p:cNvPr id="16" name="Text 14"/>
          <p:cNvSpPr/>
          <p:nvPr/>
        </p:nvSpPr>
        <p:spPr>
          <a:xfrm>
            <a:off x="685800" y="5221224"/>
            <a:ext cx="1645920" cy="274320"/>
          </a:xfrm>
          <a:prstGeom prst="rect">
            <a:avLst/>
          </a:prstGeom>
          <a:noFill/>
          <a:ln/>
        </p:spPr>
        <p:txBody>
          <a:bodyPr wrap="square" rtlCol="0" anchor="t"/>
          <a:lstStyle/>
          <a:p>
            <a:pPr indent="0" marL="0">
              <a:buNone/>
            </a:pPr>
            <a:r>
              <a:rPr lang="en-US" sz="1000" b="1" spc="300" kern="0" dirty="0">
                <a:solidFill>
                  <a:srgbClr val="10B981"/>
                </a:solidFill>
                <a:latin typeface="Inter" pitchFamily="34" charset="0"/>
                <a:ea typeface="Inter" pitchFamily="34" charset="-122"/>
                <a:cs typeface="Inter" pitchFamily="34" charset="-120"/>
              </a:rPr>
              <a:t>DISCOVERIES</a:t>
            </a:r>
            <a:endParaRPr lang="en-US" sz="1000" dirty="0"/>
          </a:p>
        </p:txBody>
      </p:sp>
      <p:sp>
        <p:nvSpPr>
          <p:cNvPr id="17" name="Text 15"/>
          <p:cNvSpPr/>
          <p:nvPr/>
        </p:nvSpPr>
        <p:spPr>
          <a:xfrm>
            <a:off x="2377440" y="5202936"/>
            <a:ext cx="9052560" cy="329184"/>
          </a:xfrm>
          <a:prstGeom prst="rect">
            <a:avLst/>
          </a:prstGeom>
          <a:noFill/>
          <a:ln/>
        </p:spPr>
        <p:txBody>
          <a:bodyPr wrap="square" rtlCol="0" anchor="t"/>
          <a:lstStyle/>
          <a:p>
            <a:pPr indent="0" marL="0">
              <a:buNone/>
            </a:pPr>
            <a:r>
              <a:rPr lang="en-US" sz="1100" dirty="0">
                <a:solidFill>
                  <a:srgbClr val="F5F1E8"/>
                </a:solidFill>
                <a:latin typeface="Inter" pitchFamily="34" charset="0"/>
                <a:ea typeface="Inter" pitchFamily="34" charset="-122"/>
                <a:cs typeface="Inter" pitchFamily="34" charset="-120"/>
              </a:rPr>
              <a:t>Geometric reasoning (perpendicular vs parallel) is a Claude vision strength. False positives on intermediate angles handled by prompt design.</a:t>
            </a:r>
            <a:endParaRPr lang="en-US" sz="1100" dirty="0"/>
          </a:p>
        </p:txBody>
      </p:sp>
      <p:sp>
        <p:nvSpPr>
          <p:cNvPr id="18" name="Text 16"/>
          <p:cNvSpPr/>
          <p:nvPr/>
        </p:nvSpPr>
        <p:spPr>
          <a:xfrm>
            <a:off x="2377440" y="5550408"/>
            <a:ext cx="9052560" cy="329184"/>
          </a:xfrm>
          <a:prstGeom prst="rect">
            <a:avLst/>
          </a:prstGeom>
          <a:noFill/>
          <a:ln/>
        </p:spPr>
        <p:txBody>
          <a:bodyPr wrap="square" rtlCol="0" anchor="t"/>
          <a:lstStyle/>
          <a:p>
            <a:pPr indent="0" marL="0">
              <a:buNone/>
            </a:pPr>
            <a:r>
              <a:rPr lang="en-US" sz="1100" dirty="0">
                <a:solidFill>
                  <a:srgbClr val="F5F1E8"/>
                </a:solidFill>
                <a:latin typeface="Inter" pitchFamily="34" charset="0"/>
                <a:ea typeface="Inter" pitchFamily="34" charset="-122"/>
                <a:cs typeface="Inter" pitchFamily="34" charset="-120"/>
              </a:rPr>
              <a:t>The same geometric vocabulary generalizes to butterfly valves, gate valves, and check valves — Phase 2 procedures get this for free.</a:t>
            </a:r>
            <a:endParaRPr lang="en-US" sz="1100" dirty="0"/>
          </a:p>
        </p:txBody>
      </p:sp>
      <p:sp>
        <p:nvSpPr>
          <p:cNvPr id="19" name="Text 17"/>
          <p:cNvSpPr/>
          <p:nvPr/>
        </p:nvSpPr>
        <p:spPr>
          <a:xfrm>
            <a:off x="457200" y="6565392"/>
            <a:ext cx="11247120" cy="228600"/>
          </a:xfrm>
          <a:prstGeom prst="rect">
            <a:avLst/>
          </a:prstGeom>
          <a:noFill/>
          <a:ln/>
        </p:spPr>
        <p:txBody>
          <a:bodyPr wrap="square" rtlCol="0" anchor="ctr"/>
          <a:lstStyle/>
          <a:p>
            <a:pPr indent="0" marL="0">
              <a:buNone/>
            </a:pPr>
            <a:r>
              <a:rPr lang="en-US" sz="800" spc="300" kern="0" dirty="0">
                <a:solidFill>
                  <a:srgbClr val="6B7689"/>
                </a:solidFill>
                <a:latin typeface="Inter" pitchFamily="34" charset="0"/>
                <a:ea typeface="Inter" pitchFamily="34" charset="-122"/>
                <a:cs typeface="Inter" pitchFamily="34" charset="-120"/>
              </a:rPr>
              <a:t>EON AI VENTURES · FIELD IQ · VISION TO REALIZATION · DAC #811 LOTO · 10 / 12</a:t>
            </a:r>
            <a:endParaRPr lang="en-US" sz="8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457200" y="320040"/>
            <a:ext cx="11247120" cy="274320"/>
          </a:xfrm>
          <a:prstGeom prst="rect">
            <a:avLst/>
          </a:prstGeom>
          <a:noFill/>
          <a:ln/>
        </p:spPr>
        <p:txBody>
          <a:bodyPr wrap="square" rtlCol="0" anchor="ctr"/>
          <a:lstStyle/>
          <a:p>
            <a:pPr indent="0" marL="0">
              <a:buNone/>
            </a:pPr>
            <a:r>
              <a:rPr lang="en-US" sz="1000" b="1" spc="400" kern="0" dirty="0">
                <a:solidFill>
                  <a:srgbClr val="E07B47"/>
                </a:solidFill>
                <a:latin typeface="Inter" pitchFamily="34" charset="0"/>
                <a:ea typeface="Inter" pitchFamily="34" charset="-122"/>
                <a:cs typeface="Inter" pitchFamily="34" charset="-120"/>
              </a:rPr>
              <a:t>STEP 9 OF 10 · ATTACH LOTO TAG</a:t>
            </a:r>
            <a:endParaRPr lang="en-US" sz="1000" dirty="0"/>
          </a:p>
        </p:txBody>
      </p:sp>
      <p:sp>
        <p:nvSpPr>
          <p:cNvPr id="3" name="Text 1"/>
          <p:cNvSpPr/>
          <p:nvPr/>
        </p:nvSpPr>
        <p:spPr>
          <a:xfrm>
            <a:off x="457200" y="640080"/>
            <a:ext cx="11247120" cy="594360"/>
          </a:xfrm>
          <a:prstGeom prst="rect">
            <a:avLst/>
          </a:prstGeom>
          <a:noFill/>
          <a:ln/>
        </p:spPr>
        <p:txBody>
          <a:bodyPr wrap="square" rtlCol="0" anchor="ctr"/>
          <a:lstStyle/>
          <a:p>
            <a:pPr indent="0" marL="0">
              <a:buNone/>
            </a:pPr>
            <a:r>
              <a:rPr lang="en-US" sz="2600" b="1" dirty="0">
                <a:solidFill>
                  <a:srgbClr val="F5F1E8"/>
                </a:solidFill>
                <a:latin typeface="Inter" pitchFamily="34" charset="0"/>
                <a:ea typeface="Inter" pitchFamily="34" charset="-122"/>
                <a:cs typeface="Inter" pitchFamily="34" charset="-120"/>
              </a:rPr>
              <a:t>Step 9 — Attach LOTO Tag</a:t>
            </a:r>
            <a:endParaRPr lang="en-US" sz="2600" dirty="0"/>
          </a:p>
        </p:txBody>
      </p:sp>
      <p:sp>
        <p:nvSpPr>
          <p:cNvPr id="4" name="Text 2"/>
          <p:cNvSpPr/>
          <p:nvPr/>
        </p:nvSpPr>
        <p:spPr>
          <a:xfrm>
            <a:off x="7772400" y="320040"/>
            <a:ext cx="3931920" cy="274320"/>
          </a:xfrm>
          <a:prstGeom prst="rect">
            <a:avLst/>
          </a:prstGeom>
          <a:noFill/>
          <a:ln/>
        </p:spPr>
        <p:txBody>
          <a:bodyPr wrap="square" rtlCol="0" anchor="ctr"/>
          <a:lstStyle/>
          <a:p>
            <a:pPr algn="r" indent="0" marL="0">
              <a:buNone/>
            </a:pPr>
            <a:r>
              <a:rPr lang="en-US" sz="900" spc="300" kern="0" dirty="0">
                <a:solidFill>
                  <a:srgbClr val="6B7689"/>
                </a:solidFill>
                <a:latin typeface="Inter" pitchFamily="34" charset="0"/>
                <a:ea typeface="Inter" pitchFamily="34" charset="-122"/>
                <a:cs typeface="Inter" pitchFamily="34" charset="-120"/>
              </a:rPr>
              <a:t>DAC #811 LOTO · OSHA 29 CFR 1910.147</a:t>
            </a:r>
            <a:endParaRPr lang="en-US" sz="900" dirty="0"/>
          </a:p>
        </p:txBody>
      </p:sp>
      <p:sp>
        <p:nvSpPr>
          <p:cNvPr id="5" name="Shape 3"/>
          <p:cNvSpPr/>
          <p:nvPr/>
        </p:nvSpPr>
        <p:spPr>
          <a:xfrm>
            <a:off x="457200" y="1417320"/>
            <a:ext cx="11247120" cy="1417320"/>
          </a:xfrm>
          <a:prstGeom prst="roundRect">
            <a:avLst>
              <a:gd name="adj" fmla="val 6452"/>
            </a:avLst>
          </a:prstGeom>
          <a:solidFill>
            <a:srgbClr val="152033"/>
          </a:solidFill>
          <a:ln w="9525">
            <a:solidFill>
              <a:srgbClr val="2C3853"/>
            </a:solidFill>
            <a:prstDash val="solid"/>
          </a:ln>
        </p:spPr>
      </p:sp>
      <p:sp>
        <p:nvSpPr>
          <p:cNvPr id="6" name="Shape 4"/>
          <p:cNvSpPr/>
          <p:nvPr/>
        </p:nvSpPr>
        <p:spPr>
          <a:xfrm>
            <a:off x="457200" y="1417320"/>
            <a:ext cx="91440" cy="1417320"/>
          </a:xfrm>
          <a:prstGeom prst="rect">
            <a:avLst/>
          </a:prstGeom>
          <a:solidFill>
            <a:srgbClr val="A6AFC2"/>
          </a:solidFill>
          <a:ln w="12700">
            <a:solidFill>
              <a:srgbClr val="A6AFC2"/>
            </a:solidFill>
            <a:prstDash val="solid"/>
          </a:ln>
        </p:spPr>
      </p:sp>
      <p:sp>
        <p:nvSpPr>
          <p:cNvPr id="7" name="Text 5"/>
          <p:cNvSpPr/>
          <p:nvPr/>
        </p:nvSpPr>
        <p:spPr>
          <a:xfrm>
            <a:off x="685800" y="1554480"/>
            <a:ext cx="1645920" cy="274320"/>
          </a:xfrm>
          <a:prstGeom prst="rect">
            <a:avLst/>
          </a:prstGeom>
          <a:noFill/>
          <a:ln/>
        </p:spPr>
        <p:txBody>
          <a:bodyPr wrap="square" rtlCol="0" anchor="t"/>
          <a:lstStyle/>
          <a:p>
            <a:pPr indent="0" marL="0">
              <a:buNone/>
            </a:pPr>
            <a:r>
              <a:rPr lang="en-US" sz="1000" b="1" spc="300" kern="0" dirty="0">
                <a:solidFill>
                  <a:srgbClr val="A6AFC2"/>
                </a:solidFill>
                <a:latin typeface="Inter" pitchFamily="34" charset="0"/>
                <a:ea typeface="Inter" pitchFamily="34" charset="-122"/>
                <a:cs typeface="Inter" pitchFamily="34" charset="-120"/>
              </a:rPr>
              <a:t>VISION</a:t>
            </a:r>
            <a:endParaRPr lang="en-US" sz="1000" dirty="0"/>
          </a:p>
        </p:txBody>
      </p:sp>
      <p:sp>
        <p:nvSpPr>
          <p:cNvPr id="8" name="Text 6"/>
          <p:cNvSpPr/>
          <p:nvPr/>
        </p:nvSpPr>
        <p:spPr>
          <a:xfrm>
            <a:off x="2377440" y="1536192"/>
            <a:ext cx="9052560" cy="1188720"/>
          </a:xfrm>
          <a:prstGeom prst="rect">
            <a:avLst/>
          </a:prstGeom>
          <a:noFill/>
          <a:ln/>
        </p:spPr>
        <p:txBody>
          <a:bodyPr wrap="square" rtlCol="0" anchor="t"/>
          <a:lstStyle/>
          <a:p>
            <a:pPr indent="0" marL="0">
              <a:buNone/>
            </a:pPr>
            <a:r>
              <a:rPr lang="en-US" sz="1150" dirty="0">
                <a:solidFill>
                  <a:srgbClr val="F5F1E8"/>
                </a:solidFill>
                <a:latin typeface="Inter" pitchFamily="34" charset="0"/>
                <a:ea typeface="Inter" pitchFamily="34" charset="-122"/>
                <a:cs typeface="Inter" pitchFamily="34" charset="-120"/>
              </a:rPr>
              <a:t>HUD: "Fill in tag (name + date) and attach to the locked-out disconnect. Photo with tag readable." Maya grabs a red LOTO tag, writes her name + date with a marker, hangs it from her padlock, photos with warning-face visible.</a:t>
            </a:r>
            <a:endParaRPr lang="en-US" sz="1150" dirty="0"/>
          </a:p>
        </p:txBody>
      </p:sp>
      <p:sp>
        <p:nvSpPr>
          <p:cNvPr id="9" name="Shape 7"/>
          <p:cNvSpPr/>
          <p:nvPr/>
        </p:nvSpPr>
        <p:spPr>
          <a:xfrm>
            <a:off x="457200" y="2907792"/>
            <a:ext cx="11247120" cy="2103120"/>
          </a:xfrm>
          <a:prstGeom prst="roundRect">
            <a:avLst>
              <a:gd name="adj" fmla="val 4348"/>
            </a:avLst>
          </a:prstGeom>
          <a:solidFill>
            <a:srgbClr val="152033"/>
          </a:solidFill>
          <a:ln w="9525">
            <a:solidFill>
              <a:srgbClr val="2C3853"/>
            </a:solidFill>
            <a:prstDash val="solid"/>
          </a:ln>
        </p:spPr>
      </p:sp>
      <p:sp>
        <p:nvSpPr>
          <p:cNvPr id="10" name="Shape 8"/>
          <p:cNvSpPr/>
          <p:nvPr/>
        </p:nvSpPr>
        <p:spPr>
          <a:xfrm>
            <a:off x="457200" y="2907792"/>
            <a:ext cx="91440" cy="2103120"/>
          </a:xfrm>
          <a:prstGeom prst="rect">
            <a:avLst/>
          </a:prstGeom>
          <a:solidFill>
            <a:srgbClr val="E07B47"/>
          </a:solidFill>
          <a:ln w="12700">
            <a:solidFill>
              <a:srgbClr val="E07B47"/>
            </a:solidFill>
            <a:prstDash val="solid"/>
          </a:ln>
        </p:spPr>
      </p:sp>
      <p:sp>
        <p:nvSpPr>
          <p:cNvPr id="11" name="Text 9"/>
          <p:cNvSpPr/>
          <p:nvPr/>
        </p:nvSpPr>
        <p:spPr>
          <a:xfrm>
            <a:off x="685800" y="3044952"/>
            <a:ext cx="1645920" cy="274320"/>
          </a:xfrm>
          <a:prstGeom prst="rect">
            <a:avLst/>
          </a:prstGeom>
          <a:noFill/>
          <a:ln/>
        </p:spPr>
        <p:txBody>
          <a:bodyPr wrap="square" rtlCol="0" anchor="t"/>
          <a:lstStyle/>
          <a:p>
            <a:pPr indent="0" marL="0">
              <a:buNone/>
            </a:pPr>
            <a:r>
              <a:rPr lang="en-US" sz="1000" b="1" spc="300" kern="0" dirty="0">
                <a:solidFill>
                  <a:srgbClr val="E07B47"/>
                </a:solidFill>
                <a:latin typeface="Inter" pitchFamily="34" charset="0"/>
                <a:ea typeface="Inter" pitchFamily="34" charset="-122"/>
                <a:cs typeface="Inter" pitchFamily="34" charset="-120"/>
              </a:rPr>
              <a:t>REALIZATION</a:t>
            </a:r>
            <a:endParaRPr lang="en-US" sz="1000" dirty="0"/>
          </a:p>
        </p:txBody>
      </p:sp>
      <p:sp>
        <p:nvSpPr>
          <p:cNvPr id="12" name="Text 10"/>
          <p:cNvSpPr/>
          <p:nvPr/>
        </p:nvSpPr>
        <p:spPr>
          <a:xfrm>
            <a:off x="2377440" y="3026664"/>
            <a:ext cx="9052560" cy="329184"/>
          </a:xfrm>
          <a:prstGeom prst="rect">
            <a:avLst/>
          </a:prstGeom>
          <a:noFill/>
          <a:ln/>
        </p:spPr>
        <p:txBody>
          <a:bodyPr wrap="square" rtlCol="0" anchor="t"/>
          <a:lstStyle/>
          <a:p>
            <a:pPr indent="0" marL="0">
              <a:buNone/>
            </a:pPr>
            <a:r>
              <a:rPr lang="en-US" sz="1100" dirty="0">
                <a:solidFill>
                  <a:srgbClr val="F5F1E8"/>
                </a:solidFill>
                <a:latin typeface="Inter" pitchFamily="34" charset="0"/>
                <a:ea typeface="Inter" pitchFamily="34" charset="-122"/>
                <a:cs typeface="Inter" pitchFamily="34" charset="-120"/>
              </a:rPr>
              <a:t>Photo flow. Claude verifies tag visibility, attachment, AND warning-side orientation.</a:t>
            </a:r>
            <a:endParaRPr lang="en-US" sz="1100" dirty="0"/>
          </a:p>
        </p:txBody>
      </p:sp>
      <p:sp>
        <p:nvSpPr>
          <p:cNvPr id="13" name="Text 11"/>
          <p:cNvSpPr/>
          <p:nvPr/>
        </p:nvSpPr>
        <p:spPr>
          <a:xfrm>
            <a:off x="2377440" y="3374136"/>
            <a:ext cx="9052560" cy="329184"/>
          </a:xfrm>
          <a:prstGeom prst="rect">
            <a:avLst/>
          </a:prstGeom>
          <a:noFill/>
          <a:ln/>
        </p:spPr>
        <p:txBody>
          <a:bodyPr wrap="square" rtlCol="0" anchor="t"/>
          <a:lstStyle/>
          <a:p>
            <a:pPr indent="0" marL="0">
              <a:buNone/>
            </a:pPr>
            <a:r>
              <a:rPr lang="en-US" sz="1100" dirty="0">
                <a:solidFill>
                  <a:srgbClr val="F5F1E8"/>
                </a:solidFill>
                <a:latin typeface="Inter" pitchFamily="34" charset="0"/>
                <a:ea typeface="Inter" pitchFamily="34" charset="-122"/>
                <a:cs typeface="Inter" pitchFamily="34" charset="-120"/>
              </a:rPr>
              <a:t>Handwriting OCR explicitly OUT of scope: glove + tremor + lighting variability is unreliable. Tag's WARNING side is what matters.</a:t>
            </a:r>
            <a:endParaRPr lang="en-US" sz="1100" dirty="0"/>
          </a:p>
        </p:txBody>
      </p:sp>
      <p:sp>
        <p:nvSpPr>
          <p:cNvPr id="14" name="Shape 12"/>
          <p:cNvSpPr/>
          <p:nvPr/>
        </p:nvSpPr>
        <p:spPr>
          <a:xfrm>
            <a:off x="457200" y="5084064"/>
            <a:ext cx="11247120" cy="1417320"/>
          </a:xfrm>
          <a:prstGeom prst="roundRect">
            <a:avLst>
              <a:gd name="adj" fmla="val 6452"/>
            </a:avLst>
          </a:prstGeom>
          <a:solidFill>
            <a:srgbClr val="152033"/>
          </a:solidFill>
          <a:ln w="9525">
            <a:solidFill>
              <a:srgbClr val="2C3853"/>
            </a:solidFill>
            <a:prstDash val="solid"/>
          </a:ln>
        </p:spPr>
      </p:sp>
      <p:sp>
        <p:nvSpPr>
          <p:cNvPr id="15" name="Shape 13"/>
          <p:cNvSpPr/>
          <p:nvPr/>
        </p:nvSpPr>
        <p:spPr>
          <a:xfrm>
            <a:off x="457200" y="5084064"/>
            <a:ext cx="91440" cy="1417320"/>
          </a:xfrm>
          <a:prstGeom prst="rect">
            <a:avLst/>
          </a:prstGeom>
          <a:solidFill>
            <a:srgbClr val="10B981"/>
          </a:solidFill>
          <a:ln w="12700">
            <a:solidFill>
              <a:srgbClr val="10B981"/>
            </a:solidFill>
            <a:prstDash val="solid"/>
          </a:ln>
        </p:spPr>
      </p:sp>
      <p:sp>
        <p:nvSpPr>
          <p:cNvPr id="16" name="Text 14"/>
          <p:cNvSpPr/>
          <p:nvPr/>
        </p:nvSpPr>
        <p:spPr>
          <a:xfrm>
            <a:off x="685800" y="5221224"/>
            <a:ext cx="1645920" cy="274320"/>
          </a:xfrm>
          <a:prstGeom prst="rect">
            <a:avLst/>
          </a:prstGeom>
          <a:noFill/>
          <a:ln/>
        </p:spPr>
        <p:txBody>
          <a:bodyPr wrap="square" rtlCol="0" anchor="t"/>
          <a:lstStyle/>
          <a:p>
            <a:pPr indent="0" marL="0">
              <a:buNone/>
            </a:pPr>
            <a:r>
              <a:rPr lang="en-US" sz="1000" b="1" spc="300" kern="0" dirty="0">
                <a:solidFill>
                  <a:srgbClr val="10B981"/>
                </a:solidFill>
                <a:latin typeface="Inter" pitchFamily="34" charset="0"/>
                <a:ea typeface="Inter" pitchFamily="34" charset="-122"/>
                <a:cs typeface="Inter" pitchFamily="34" charset="-120"/>
              </a:rPr>
              <a:t>DISCOVERIES</a:t>
            </a:r>
            <a:endParaRPr lang="en-US" sz="1000" dirty="0"/>
          </a:p>
        </p:txBody>
      </p:sp>
      <p:sp>
        <p:nvSpPr>
          <p:cNvPr id="17" name="Text 15"/>
          <p:cNvSpPr/>
          <p:nvPr/>
        </p:nvSpPr>
        <p:spPr>
          <a:xfrm>
            <a:off x="2377440" y="5202936"/>
            <a:ext cx="9052560" cy="329184"/>
          </a:xfrm>
          <a:prstGeom prst="rect">
            <a:avLst/>
          </a:prstGeom>
          <a:noFill/>
          <a:ln/>
        </p:spPr>
        <p:txBody>
          <a:bodyPr wrap="square" rtlCol="0" anchor="t"/>
          <a:lstStyle/>
          <a:p>
            <a:pPr indent="0" marL="0">
              <a:buNone/>
            </a:pPr>
            <a:r>
              <a:rPr lang="en-US" sz="1100" dirty="0">
                <a:solidFill>
                  <a:srgbClr val="F5F1E8"/>
                </a:solidFill>
                <a:latin typeface="Inter" pitchFamily="34" charset="0"/>
                <a:ea typeface="Inter" pitchFamily="34" charset="-122"/>
                <a:cs typeface="Inter" pitchFamily="34" charset="-120"/>
              </a:rPr>
              <a:t>When neural-handwriting on iOS (Update 125) reaches Field IQ, Maya types her name with a finger-pinch handwriting gesture — captured digitally, no marker, no OCR uncertainty.</a:t>
            </a:r>
            <a:endParaRPr lang="en-US" sz="1100" dirty="0"/>
          </a:p>
        </p:txBody>
      </p:sp>
      <p:sp>
        <p:nvSpPr>
          <p:cNvPr id="18" name="Text 16"/>
          <p:cNvSpPr/>
          <p:nvPr/>
        </p:nvSpPr>
        <p:spPr>
          <a:xfrm>
            <a:off x="2377440" y="5550408"/>
            <a:ext cx="9052560" cy="329184"/>
          </a:xfrm>
          <a:prstGeom prst="rect">
            <a:avLst/>
          </a:prstGeom>
          <a:noFill/>
          <a:ln/>
        </p:spPr>
        <p:txBody>
          <a:bodyPr wrap="square" rtlCol="0" anchor="t"/>
          <a:lstStyle/>
          <a:p>
            <a:pPr indent="0" marL="0">
              <a:buNone/>
            </a:pPr>
            <a:r>
              <a:rPr lang="en-US" sz="1100" dirty="0">
                <a:solidFill>
                  <a:srgbClr val="F5F1E8"/>
                </a:solidFill>
                <a:latin typeface="Inter" pitchFamily="34" charset="0"/>
                <a:ea typeface="Inter" pitchFamily="34" charset="-122"/>
                <a:cs typeface="Inter" pitchFamily="34" charset="-120"/>
              </a:rPr>
              <a:t>Tag warning-side-out check generalizes: any sign or label requiring a specific orientation ("hot work," "confined space permit," etc.) can use the same verification pattern.</a:t>
            </a:r>
            <a:endParaRPr lang="en-US" sz="1100" dirty="0"/>
          </a:p>
        </p:txBody>
      </p:sp>
      <p:sp>
        <p:nvSpPr>
          <p:cNvPr id="19" name="Text 17"/>
          <p:cNvSpPr/>
          <p:nvPr/>
        </p:nvSpPr>
        <p:spPr>
          <a:xfrm>
            <a:off x="457200" y="6565392"/>
            <a:ext cx="11247120" cy="228600"/>
          </a:xfrm>
          <a:prstGeom prst="rect">
            <a:avLst/>
          </a:prstGeom>
          <a:noFill/>
          <a:ln/>
        </p:spPr>
        <p:txBody>
          <a:bodyPr wrap="square" rtlCol="0" anchor="ctr"/>
          <a:lstStyle/>
          <a:p>
            <a:pPr indent="0" marL="0">
              <a:buNone/>
            </a:pPr>
            <a:r>
              <a:rPr lang="en-US" sz="800" spc="300" kern="0" dirty="0">
                <a:solidFill>
                  <a:srgbClr val="6B7689"/>
                </a:solidFill>
                <a:latin typeface="Inter" pitchFamily="34" charset="0"/>
                <a:ea typeface="Inter" pitchFamily="34" charset="-122"/>
                <a:cs typeface="Inter" pitchFamily="34" charset="-120"/>
              </a:rPr>
              <a:t>EON AI VENTURES · FIELD IQ · VISION TO REALIZATION · DAC #811 LOTO · 11 / 12</a:t>
            </a:r>
            <a:endParaRPr lang="en-US" sz="8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457200" y="320040"/>
            <a:ext cx="11247120" cy="274320"/>
          </a:xfrm>
          <a:prstGeom prst="rect">
            <a:avLst/>
          </a:prstGeom>
          <a:noFill/>
          <a:ln/>
        </p:spPr>
        <p:txBody>
          <a:bodyPr wrap="square" rtlCol="0" anchor="ctr"/>
          <a:lstStyle/>
          <a:p>
            <a:pPr indent="0" marL="0">
              <a:buNone/>
            </a:pPr>
            <a:r>
              <a:rPr lang="en-US" sz="1000" b="1" spc="400" kern="0" dirty="0">
                <a:solidFill>
                  <a:srgbClr val="E07B47"/>
                </a:solidFill>
                <a:latin typeface="Inter" pitchFamily="34" charset="0"/>
                <a:ea typeface="Inter" pitchFamily="34" charset="-122"/>
                <a:cs typeface="Inter" pitchFamily="34" charset="-120"/>
              </a:rPr>
              <a:t>STEP 10 OF 10 · VERIFY ZERO ENERGY</a:t>
            </a:r>
            <a:endParaRPr lang="en-US" sz="1000" dirty="0"/>
          </a:p>
        </p:txBody>
      </p:sp>
      <p:sp>
        <p:nvSpPr>
          <p:cNvPr id="3" name="Text 1"/>
          <p:cNvSpPr/>
          <p:nvPr/>
        </p:nvSpPr>
        <p:spPr>
          <a:xfrm>
            <a:off x="457200" y="640080"/>
            <a:ext cx="11247120" cy="594360"/>
          </a:xfrm>
          <a:prstGeom prst="rect">
            <a:avLst/>
          </a:prstGeom>
          <a:noFill/>
          <a:ln/>
        </p:spPr>
        <p:txBody>
          <a:bodyPr wrap="square" rtlCol="0" anchor="ctr"/>
          <a:lstStyle/>
          <a:p>
            <a:pPr indent="0" marL="0">
              <a:buNone/>
            </a:pPr>
            <a:r>
              <a:rPr lang="en-US" sz="2600" b="1" dirty="0">
                <a:solidFill>
                  <a:srgbClr val="F5F1E8"/>
                </a:solidFill>
                <a:latin typeface="Inter" pitchFamily="34" charset="0"/>
                <a:ea typeface="Inter" pitchFamily="34" charset="-122"/>
                <a:cs typeface="Inter" pitchFamily="34" charset="-120"/>
              </a:rPr>
              <a:t>Step 10 — Verify Zero Energy (critical safety verification)</a:t>
            </a:r>
            <a:endParaRPr lang="en-US" sz="2600" dirty="0"/>
          </a:p>
        </p:txBody>
      </p:sp>
      <p:sp>
        <p:nvSpPr>
          <p:cNvPr id="4" name="Text 2"/>
          <p:cNvSpPr/>
          <p:nvPr/>
        </p:nvSpPr>
        <p:spPr>
          <a:xfrm>
            <a:off x="7772400" y="320040"/>
            <a:ext cx="3931920" cy="274320"/>
          </a:xfrm>
          <a:prstGeom prst="rect">
            <a:avLst/>
          </a:prstGeom>
          <a:noFill/>
          <a:ln/>
        </p:spPr>
        <p:txBody>
          <a:bodyPr wrap="square" rtlCol="0" anchor="ctr"/>
          <a:lstStyle/>
          <a:p>
            <a:pPr algn="r" indent="0" marL="0">
              <a:buNone/>
            </a:pPr>
            <a:r>
              <a:rPr lang="en-US" sz="900" spc="300" kern="0" dirty="0">
                <a:solidFill>
                  <a:srgbClr val="6B7689"/>
                </a:solidFill>
                <a:latin typeface="Inter" pitchFamily="34" charset="0"/>
                <a:ea typeface="Inter" pitchFamily="34" charset="-122"/>
                <a:cs typeface="Inter" pitchFamily="34" charset="-120"/>
              </a:rPr>
              <a:t>DAC #811 LOTO · OSHA 29 CFR 1910.147</a:t>
            </a:r>
            <a:endParaRPr lang="en-US" sz="900" dirty="0"/>
          </a:p>
        </p:txBody>
      </p:sp>
      <p:sp>
        <p:nvSpPr>
          <p:cNvPr id="5" name="Shape 3"/>
          <p:cNvSpPr/>
          <p:nvPr/>
        </p:nvSpPr>
        <p:spPr>
          <a:xfrm>
            <a:off x="457200" y="1417320"/>
            <a:ext cx="11247120" cy="1417320"/>
          </a:xfrm>
          <a:prstGeom prst="roundRect">
            <a:avLst>
              <a:gd name="adj" fmla="val 6452"/>
            </a:avLst>
          </a:prstGeom>
          <a:solidFill>
            <a:srgbClr val="152033"/>
          </a:solidFill>
          <a:ln w="9525">
            <a:solidFill>
              <a:srgbClr val="2C3853"/>
            </a:solidFill>
            <a:prstDash val="solid"/>
          </a:ln>
        </p:spPr>
      </p:sp>
      <p:sp>
        <p:nvSpPr>
          <p:cNvPr id="6" name="Shape 4"/>
          <p:cNvSpPr/>
          <p:nvPr/>
        </p:nvSpPr>
        <p:spPr>
          <a:xfrm>
            <a:off x="457200" y="1417320"/>
            <a:ext cx="91440" cy="1417320"/>
          </a:xfrm>
          <a:prstGeom prst="rect">
            <a:avLst/>
          </a:prstGeom>
          <a:solidFill>
            <a:srgbClr val="A6AFC2"/>
          </a:solidFill>
          <a:ln w="12700">
            <a:solidFill>
              <a:srgbClr val="A6AFC2"/>
            </a:solidFill>
            <a:prstDash val="solid"/>
          </a:ln>
        </p:spPr>
      </p:sp>
      <p:sp>
        <p:nvSpPr>
          <p:cNvPr id="7" name="Text 5"/>
          <p:cNvSpPr/>
          <p:nvPr/>
        </p:nvSpPr>
        <p:spPr>
          <a:xfrm>
            <a:off x="685800" y="1554480"/>
            <a:ext cx="1645920" cy="274320"/>
          </a:xfrm>
          <a:prstGeom prst="rect">
            <a:avLst/>
          </a:prstGeom>
          <a:noFill/>
          <a:ln/>
        </p:spPr>
        <p:txBody>
          <a:bodyPr wrap="square" rtlCol="0" anchor="t"/>
          <a:lstStyle/>
          <a:p>
            <a:pPr indent="0" marL="0">
              <a:buNone/>
            </a:pPr>
            <a:r>
              <a:rPr lang="en-US" sz="1000" b="1" spc="300" kern="0" dirty="0">
                <a:solidFill>
                  <a:srgbClr val="A6AFC2"/>
                </a:solidFill>
                <a:latin typeface="Inter" pitchFamily="34" charset="0"/>
                <a:ea typeface="Inter" pitchFamily="34" charset="-122"/>
                <a:cs typeface="Inter" pitchFamily="34" charset="-120"/>
              </a:rPr>
              <a:t>VISION</a:t>
            </a:r>
            <a:endParaRPr lang="en-US" sz="1000" dirty="0"/>
          </a:p>
        </p:txBody>
      </p:sp>
      <p:sp>
        <p:nvSpPr>
          <p:cNvPr id="8" name="Text 6"/>
          <p:cNvSpPr/>
          <p:nvPr/>
        </p:nvSpPr>
        <p:spPr>
          <a:xfrm>
            <a:off x="2377440" y="1536192"/>
            <a:ext cx="9052560" cy="1188720"/>
          </a:xfrm>
          <a:prstGeom prst="rect">
            <a:avLst/>
          </a:prstGeom>
          <a:noFill/>
          <a:ln/>
        </p:spPr>
        <p:txBody>
          <a:bodyPr wrap="square" rtlCol="0" anchor="t"/>
          <a:lstStyle/>
          <a:p>
            <a:pPr indent="0" marL="0">
              <a:buNone/>
            </a:pPr>
            <a:r>
              <a:rPr lang="en-US" sz="1150" dirty="0">
                <a:solidFill>
                  <a:srgbClr val="F5F1E8"/>
                </a:solidFill>
                <a:latin typeface="Inter" pitchFamily="34" charset="0"/>
                <a:ea typeface="Inter" pitchFamily="34" charset="-122"/>
                <a:cs typeface="Inter" pitchFamily="34" charset="-120"/>
              </a:rPr>
              <a:t>HUD: "Press START. Equipment must NOT activate. Photo your hand on the START button." Maya walks back to the local starter, presses START firmly, observes no response (no light, no motion, no sound), photos her hand on the button.</a:t>
            </a:r>
            <a:endParaRPr lang="en-US" sz="1150" dirty="0"/>
          </a:p>
        </p:txBody>
      </p:sp>
      <p:sp>
        <p:nvSpPr>
          <p:cNvPr id="9" name="Shape 7"/>
          <p:cNvSpPr/>
          <p:nvPr/>
        </p:nvSpPr>
        <p:spPr>
          <a:xfrm>
            <a:off x="457200" y="2907792"/>
            <a:ext cx="11247120" cy="2103120"/>
          </a:xfrm>
          <a:prstGeom prst="roundRect">
            <a:avLst>
              <a:gd name="adj" fmla="val 4348"/>
            </a:avLst>
          </a:prstGeom>
          <a:solidFill>
            <a:srgbClr val="152033"/>
          </a:solidFill>
          <a:ln w="9525">
            <a:solidFill>
              <a:srgbClr val="2C3853"/>
            </a:solidFill>
            <a:prstDash val="solid"/>
          </a:ln>
        </p:spPr>
      </p:sp>
      <p:sp>
        <p:nvSpPr>
          <p:cNvPr id="10" name="Shape 8"/>
          <p:cNvSpPr/>
          <p:nvPr/>
        </p:nvSpPr>
        <p:spPr>
          <a:xfrm>
            <a:off x="457200" y="2907792"/>
            <a:ext cx="91440" cy="2103120"/>
          </a:xfrm>
          <a:prstGeom prst="rect">
            <a:avLst/>
          </a:prstGeom>
          <a:solidFill>
            <a:srgbClr val="E07B47"/>
          </a:solidFill>
          <a:ln w="12700">
            <a:solidFill>
              <a:srgbClr val="E07B47"/>
            </a:solidFill>
            <a:prstDash val="solid"/>
          </a:ln>
        </p:spPr>
      </p:sp>
      <p:sp>
        <p:nvSpPr>
          <p:cNvPr id="11" name="Text 9"/>
          <p:cNvSpPr/>
          <p:nvPr/>
        </p:nvSpPr>
        <p:spPr>
          <a:xfrm>
            <a:off x="685800" y="3044952"/>
            <a:ext cx="1645920" cy="274320"/>
          </a:xfrm>
          <a:prstGeom prst="rect">
            <a:avLst/>
          </a:prstGeom>
          <a:noFill/>
          <a:ln/>
        </p:spPr>
        <p:txBody>
          <a:bodyPr wrap="square" rtlCol="0" anchor="t"/>
          <a:lstStyle/>
          <a:p>
            <a:pPr indent="0" marL="0">
              <a:buNone/>
            </a:pPr>
            <a:r>
              <a:rPr lang="en-US" sz="1000" b="1" spc="300" kern="0" dirty="0">
                <a:solidFill>
                  <a:srgbClr val="E07B47"/>
                </a:solidFill>
                <a:latin typeface="Inter" pitchFamily="34" charset="0"/>
                <a:ea typeface="Inter" pitchFamily="34" charset="-122"/>
                <a:cs typeface="Inter" pitchFamily="34" charset="-120"/>
              </a:rPr>
              <a:t>REALIZATION</a:t>
            </a:r>
            <a:endParaRPr lang="en-US" sz="1000" dirty="0"/>
          </a:p>
        </p:txBody>
      </p:sp>
      <p:sp>
        <p:nvSpPr>
          <p:cNvPr id="12" name="Text 10"/>
          <p:cNvSpPr/>
          <p:nvPr/>
        </p:nvSpPr>
        <p:spPr>
          <a:xfrm>
            <a:off x="2377440" y="3026664"/>
            <a:ext cx="9052560" cy="329184"/>
          </a:xfrm>
          <a:prstGeom prst="rect">
            <a:avLst/>
          </a:prstGeom>
          <a:noFill/>
          <a:ln/>
        </p:spPr>
        <p:txBody>
          <a:bodyPr wrap="square" rtlCol="0" anchor="t"/>
          <a:lstStyle/>
          <a:p>
            <a:pPr indent="0" marL="0">
              <a:buNone/>
            </a:pPr>
            <a:r>
              <a:rPr lang="en-US" sz="1100" dirty="0">
                <a:solidFill>
                  <a:srgbClr val="F5F1E8"/>
                </a:solidFill>
                <a:latin typeface="Inter" pitchFamily="34" charset="0"/>
                <a:ea typeface="Inter" pitchFamily="34" charset="-122"/>
                <a:cs typeface="Inter" pitchFamily="34" charset="-120"/>
              </a:rPr>
              <a:t>Photo flow. Claude verifies hand visible on START button AND no activation indicators (spinning impeller, fluid motion, GREEN/RUN indicator).</a:t>
            </a:r>
            <a:endParaRPr lang="en-US" sz="1100" dirty="0"/>
          </a:p>
        </p:txBody>
      </p:sp>
      <p:sp>
        <p:nvSpPr>
          <p:cNvPr id="13" name="Text 11"/>
          <p:cNvSpPr/>
          <p:nvPr/>
        </p:nvSpPr>
        <p:spPr>
          <a:xfrm>
            <a:off x="2377440" y="3374136"/>
            <a:ext cx="9052560" cy="329184"/>
          </a:xfrm>
          <a:prstGeom prst="rect">
            <a:avLst/>
          </a:prstGeom>
          <a:noFill/>
          <a:ln/>
        </p:spPr>
        <p:txBody>
          <a:bodyPr wrap="square" rtlCol="0" anchor="t"/>
          <a:lstStyle/>
          <a:p>
            <a:pPr indent="0" marL="0">
              <a:buNone/>
            </a:pPr>
            <a:r>
              <a:rPr lang="en-US" sz="1100" dirty="0">
                <a:solidFill>
                  <a:srgbClr val="F5F1E8"/>
                </a:solidFill>
                <a:latin typeface="Inter" pitchFamily="34" charset="0"/>
                <a:ea typeface="Inter" pitchFamily="34" charset="-122"/>
                <a:cs typeface="Inter" pitchFamily="34" charset="-120"/>
              </a:rPr>
              <a:t>CRITICAL prompt engineering: PREFER false negatives (verified=false when ambiguous) over false positives (verified=true when actually energized). Zero-tolerance for false positives.</a:t>
            </a:r>
            <a:endParaRPr lang="en-US" sz="1100" dirty="0"/>
          </a:p>
        </p:txBody>
      </p:sp>
      <p:sp>
        <p:nvSpPr>
          <p:cNvPr id="14" name="Text 12"/>
          <p:cNvSpPr/>
          <p:nvPr/>
        </p:nvSpPr>
        <p:spPr>
          <a:xfrm>
            <a:off x="2377440" y="3721608"/>
            <a:ext cx="9052560" cy="329184"/>
          </a:xfrm>
          <a:prstGeom prst="rect">
            <a:avLst/>
          </a:prstGeom>
          <a:noFill/>
          <a:ln/>
        </p:spPr>
        <p:txBody>
          <a:bodyPr wrap="square" rtlCol="0" anchor="t"/>
          <a:lstStyle/>
          <a:p>
            <a:pPr indent="0" marL="0">
              <a:buNone/>
            </a:pPr>
            <a:r>
              <a:rPr lang="en-US" sz="1100" dirty="0">
                <a:solidFill>
                  <a:srgbClr val="F5F1E8"/>
                </a:solidFill>
                <a:latin typeface="Inter" pitchFamily="34" charset="0"/>
                <a:ea typeface="Inter" pitchFamily="34" charset="-122"/>
                <a:cs typeface="Inter" pitchFamily="34" charset="-120"/>
              </a:rPr>
              <a:t>If Claude detects activation, the `detail` field flags it as a critical safety failure → immediate supervisor page → OSHA-reportable incident record.</a:t>
            </a:r>
            <a:endParaRPr lang="en-US" sz="1100" dirty="0"/>
          </a:p>
        </p:txBody>
      </p:sp>
      <p:sp>
        <p:nvSpPr>
          <p:cNvPr id="15" name="Shape 13"/>
          <p:cNvSpPr/>
          <p:nvPr/>
        </p:nvSpPr>
        <p:spPr>
          <a:xfrm>
            <a:off x="457200" y="5084064"/>
            <a:ext cx="11247120" cy="1417320"/>
          </a:xfrm>
          <a:prstGeom prst="roundRect">
            <a:avLst>
              <a:gd name="adj" fmla="val 6452"/>
            </a:avLst>
          </a:prstGeom>
          <a:solidFill>
            <a:srgbClr val="152033"/>
          </a:solidFill>
          <a:ln w="9525">
            <a:solidFill>
              <a:srgbClr val="2C3853"/>
            </a:solidFill>
            <a:prstDash val="solid"/>
          </a:ln>
        </p:spPr>
      </p:sp>
      <p:sp>
        <p:nvSpPr>
          <p:cNvPr id="16" name="Shape 14"/>
          <p:cNvSpPr/>
          <p:nvPr/>
        </p:nvSpPr>
        <p:spPr>
          <a:xfrm>
            <a:off x="457200" y="5084064"/>
            <a:ext cx="91440" cy="1417320"/>
          </a:xfrm>
          <a:prstGeom prst="rect">
            <a:avLst/>
          </a:prstGeom>
          <a:solidFill>
            <a:srgbClr val="10B981"/>
          </a:solidFill>
          <a:ln w="12700">
            <a:solidFill>
              <a:srgbClr val="10B981"/>
            </a:solidFill>
            <a:prstDash val="solid"/>
          </a:ln>
        </p:spPr>
      </p:sp>
      <p:sp>
        <p:nvSpPr>
          <p:cNvPr id="17" name="Text 15"/>
          <p:cNvSpPr/>
          <p:nvPr/>
        </p:nvSpPr>
        <p:spPr>
          <a:xfrm>
            <a:off x="685800" y="5221224"/>
            <a:ext cx="1645920" cy="274320"/>
          </a:xfrm>
          <a:prstGeom prst="rect">
            <a:avLst/>
          </a:prstGeom>
          <a:noFill/>
          <a:ln/>
        </p:spPr>
        <p:txBody>
          <a:bodyPr wrap="square" rtlCol="0" anchor="t"/>
          <a:lstStyle/>
          <a:p>
            <a:pPr indent="0" marL="0">
              <a:buNone/>
            </a:pPr>
            <a:r>
              <a:rPr lang="en-US" sz="1000" b="1" spc="300" kern="0" dirty="0">
                <a:solidFill>
                  <a:srgbClr val="10B981"/>
                </a:solidFill>
                <a:latin typeface="Inter" pitchFamily="34" charset="0"/>
                <a:ea typeface="Inter" pitchFamily="34" charset="-122"/>
                <a:cs typeface="Inter" pitchFamily="34" charset="-120"/>
              </a:rPr>
              <a:t>DISCOVERIES</a:t>
            </a:r>
            <a:endParaRPr lang="en-US" sz="1000" dirty="0"/>
          </a:p>
        </p:txBody>
      </p:sp>
      <p:sp>
        <p:nvSpPr>
          <p:cNvPr id="18" name="Text 16"/>
          <p:cNvSpPr/>
          <p:nvPr/>
        </p:nvSpPr>
        <p:spPr>
          <a:xfrm>
            <a:off x="2377440" y="5202936"/>
            <a:ext cx="9052560" cy="329184"/>
          </a:xfrm>
          <a:prstGeom prst="rect">
            <a:avLst/>
          </a:prstGeom>
          <a:noFill/>
          <a:ln/>
        </p:spPr>
        <p:txBody>
          <a:bodyPr wrap="square" rtlCol="0" anchor="t"/>
          <a:lstStyle/>
          <a:p>
            <a:pPr indent="0" marL="0">
              <a:buNone/>
            </a:pPr>
            <a:r>
              <a:rPr lang="en-US" sz="1100" dirty="0">
                <a:solidFill>
                  <a:srgbClr val="F5F1E8"/>
                </a:solidFill>
                <a:latin typeface="Inter" pitchFamily="34" charset="0"/>
                <a:ea typeface="Inter" pitchFamily="34" charset="-122"/>
                <a:cs typeface="Inter" pitchFamily="34" charset="-120"/>
              </a:rPr>
              <a:t>Critical-incident flagging extends our original "AI confidence" model with a structured safety-event channel. Phase 2 wires this to PagerDuty for live ops.</a:t>
            </a:r>
            <a:endParaRPr lang="en-US" sz="1100" dirty="0"/>
          </a:p>
        </p:txBody>
      </p:sp>
      <p:sp>
        <p:nvSpPr>
          <p:cNvPr id="19" name="Text 17"/>
          <p:cNvSpPr/>
          <p:nvPr/>
        </p:nvSpPr>
        <p:spPr>
          <a:xfrm>
            <a:off x="2377440" y="5550408"/>
            <a:ext cx="9052560" cy="329184"/>
          </a:xfrm>
          <a:prstGeom prst="rect">
            <a:avLst/>
          </a:prstGeom>
          <a:noFill/>
          <a:ln/>
        </p:spPr>
        <p:txBody>
          <a:bodyPr wrap="square" rtlCol="0" anchor="t"/>
          <a:lstStyle/>
          <a:p>
            <a:pPr indent="0" marL="0">
              <a:buNone/>
            </a:pPr>
            <a:r>
              <a:rPr lang="en-US" sz="1100" dirty="0">
                <a:solidFill>
                  <a:srgbClr val="F5F1E8"/>
                </a:solidFill>
                <a:latin typeface="Inter" pitchFamily="34" charset="0"/>
                <a:ea typeface="Inter" pitchFamily="34" charset="-122"/>
                <a:cs typeface="Inter" pitchFamily="34" charset="-120"/>
              </a:rPr>
              <a:t>PDF audit report auto-generates on Step 10 verification with SHA-256 chain of all 10 photos. Carlos signs on his tablet; Maya signs on the phone companion; Priya gets a notification.</a:t>
            </a:r>
            <a:endParaRPr lang="en-US" sz="1100" dirty="0"/>
          </a:p>
        </p:txBody>
      </p:sp>
      <p:sp>
        <p:nvSpPr>
          <p:cNvPr id="20" name="Text 18"/>
          <p:cNvSpPr/>
          <p:nvPr/>
        </p:nvSpPr>
        <p:spPr>
          <a:xfrm>
            <a:off x="457200" y="6565392"/>
            <a:ext cx="11247120" cy="228600"/>
          </a:xfrm>
          <a:prstGeom prst="rect">
            <a:avLst/>
          </a:prstGeom>
          <a:noFill/>
          <a:ln/>
        </p:spPr>
        <p:txBody>
          <a:bodyPr wrap="square" rtlCol="0" anchor="ctr"/>
          <a:lstStyle/>
          <a:p>
            <a:pPr indent="0" marL="0">
              <a:buNone/>
            </a:pPr>
            <a:r>
              <a:rPr lang="en-US" sz="800" spc="300" kern="0" dirty="0">
                <a:solidFill>
                  <a:srgbClr val="6B7689"/>
                </a:solidFill>
                <a:latin typeface="Inter" pitchFamily="34" charset="0"/>
                <a:ea typeface="Inter" pitchFamily="34" charset="-122"/>
                <a:cs typeface="Inter" pitchFamily="34" charset="-120"/>
              </a:rPr>
              <a:t>EON AI VENTURES · FIELD IQ · VISION TO REALIZATION · DAC #811 LOTO · 12 / 12</a:t>
            </a:r>
            <a:endParaRPr lang="en-US" sz="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Field IQ — Vision to Realization · DAC #811 LOTO</dc:title>
  <dc:subject>PptxGenJS Presentation</dc:subject>
  <dc:creator>Claude Cowork · EON AI Ventures</dc:creator>
  <cp:lastModifiedBy>Claude Cowork · EON AI Ventures</cp:lastModifiedBy>
  <cp:revision>1</cp:revision>
  <dcterms:created xsi:type="dcterms:W3CDTF">2026-05-26T11:14:51Z</dcterms:created>
  <dcterms:modified xsi:type="dcterms:W3CDTF">2026-05-26T11:14:51Z</dcterms:modified>
</cp:coreProperties>
</file>